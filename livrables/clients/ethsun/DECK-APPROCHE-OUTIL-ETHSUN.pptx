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32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1A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92000" y="1584000"/>
            <a:ext cx="1655999" cy="50400"/>
          </a:xfrm>
          <a:prstGeom prst="rect">
            <a:avLst/>
          </a:prstGeom>
          <a:solidFill>
            <a:srgbClr val="F25C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92000" y="1116000"/>
            <a:ext cx="10609200" cy="288000"/>
          </a:xfrm>
          <a:prstGeom prst="rect">
            <a:avLst/>
          </a:prstGeom>
          <a:noFill/>
        </p:spPr>
        <p:txBody>
          <a:bodyPr wrap="square" lIns="0" rIns="0" tIns="0" bIns="0">
            <a:spAutoFit/>
          </a:bodyPr>
          <a:lstStyle/>
          <a:p>
            <a:pPr algn="l">
              <a:lnSpc>
                <a:spcPct val="125000"/>
              </a:lnSpc>
              <a:spcAft>
                <a:spcPts val="0"/>
              </a:spcAft>
            </a:pPr>
            <a:r>
              <a:rPr sz="1100" b="1" i="0">
                <a:solidFill>
                  <a:srgbClr val="FF7A2E"/>
                </a:solidFill>
                <a:latin typeface="Calibri"/>
              </a:rPr>
              <a:t>ETHSUN INSTITUTE  ·  SPRINT IA SECTORIEL  ·  TOURISME ET LOISIRS</a:t>
            </a:r>
          </a:p>
        </p:txBody>
      </p:sp>
      <p:sp>
        <p:nvSpPr>
          <p:cNvPr id="5" name="TextBox 4"/>
          <p:cNvSpPr txBox="1"/>
          <p:nvPr/>
        </p:nvSpPr>
        <p:spPr>
          <a:xfrm>
            <a:off x="792000" y="1980000"/>
            <a:ext cx="8640000" cy="1584000"/>
          </a:xfrm>
          <a:prstGeom prst="rect">
            <a:avLst/>
          </a:prstGeom>
          <a:noFill/>
        </p:spPr>
        <p:txBody>
          <a:bodyPr wrap="square" lIns="0" rIns="0" tIns="0" bIns="0">
            <a:spAutoFit/>
          </a:bodyPr>
          <a:lstStyle/>
          <a:p>
            <a:pPr algn="l">
              <a:lnSpc>
                <a:spcPct val="105000"/>
              </a:lnSpc>
              <a:spcAft>
                <a:spcPts val="0"/>
              </a:spcAft>
            </a:pPr>
            <a:r>
              <a:rPr sz="4600" b="1" i="0">
                <a:solidFill>
                  <a:srgbClr val="FFFFFF"/>
                </a:solidFill>
                <a:latin typeface="Calibri"/>
              </a:rPr>
              <a:t>Faire du Sprint</a:t>
            </a:r>
          </a:p>
          <a:p>
            <a:pPr algn="l">
              <a:lnSpc>
                <a:spcPct val="105000"/>
              </a:lnSpc>
              <a:spcAft>
                <a:spcPts val="0"/>
              </a:spcAft>
            </a:pPr>
            <a:r>
              <a:rPr sz="4600" b="1" i="0">
                <a:solidFill>
                  <a:srgbClr val="FFFFFF"/>
                </a:solidFill>
                <a:latin typeface="Calibri"/>
              </a:rPr>
              <a:t>un outil, pas un cours</a:t>
            </a:r>
          </a:p>
        </p:txBody>
      </p:sp>
      <p:sp>
        <p:nvSpPr>
          <p:cNvPr id="6" name="TextBox 5"/>
          <p:cNvSpPr txBox="1"/>
          <p:nvPr/>
        </p:nvSpPr>
        <p:spPr>
          <a:xfrm>
            <a:off x="792000" y="3816000"/>
            <a:ext cx="7560000" cy="1152000"/>
          </a:xfrm>
          <a:prstGeom prst="rect">
            <a:avLst/>
          </a:prstGeom>
          <a:noFill/>
        </p:spPr>
        <p:txBody>
          <a:bodyPr wrap="square" lIns="0" rIns="0" tIns="0" bIns="0">
            <a:spAutoFit/>
          </a:bodyPr>
          <a:lstStyle/>
          <a:p>
            <a:pPr algn="l">
              <a:lnSpc>
                <a:spcPct val="150000"/>
              </a:lnSpc>
              <a:spcAft>
                <a:spcPts val="0"/>
              </a:spcAft>
            </a:pPr>
            <a:r>
              <a:rPr sz="1450" b="0" i="0">
                <a:solidFill>
                  <a:srgbClr val="E7E1D8"/>
                </a:solidFill>
                <a:latin typeface="Calibri"/>
              </a:rPr>
              <a:t>Le participant arrive avec ses propres données d’exploitation, il repart</a:t>
            </a:r>
          </a:p>
          <a:p>
            <a:pPr algn="l">
              <a:lnSpc>
                <a:spcPct val="150000"/>
              </a:lnSpc>
              <a:spcAft>
                <a:spcPts val="0"/>
              </a:spcAft>
            </a:pPr>
            <a:r>
              <a:rPr sz="1450" b="0" i="0">
                <a:solidFill>
                  <a:srgbClr val="E7E1D8"/>
                </a:solidFill>
                <a:latin typeface="Calibri"/>
              </a:rPr>
              <a:t>avec sa feuille de route générée depuis ses chiffres. La théorie ne sert</a:t>
            </a:r>
          </a:p>
          <a:p>
            <a:pPr algn="l">
              <a:lnSpc>
                <a:spcPct val="150000"/>
              </a:lnSpc>
              <a:spcAft>
                <a:spcPts val="0"/>
              </a:spcAft>
            </a:pPr>
            <a:r>
              <a:rPr sz="1450" b="0" i="0">
                <a:solidFill>
                  <a:srgbClr val="E7E1D8"/>
                </a:solidFill>
                <a:latin typeface="Calibri"/>
              </a:rPr>
              <a:t>plus à annoncer ce qui serait possible, elle explique ce qu’il vient de voir.</a:t>
            </a:r>
          </a:p>
        </p:txBody>
      </p:sp>
      <p:sp>
        <p:nvSpPr>
          <p:cNvPr id="7" name="Rectangle 6"/>
          <p:cNvSpPr/>
          <p:nvPr/>
        </p:nvSpPr>
        <p:spPr>
          <a:xfrm>
            <a:off x="792000" y="5256000"/>
            <a:ext cx="10609200" cy="10800"/>
          </a:xfrm>
          <a:prstGeom prst="rect">
            <a:avLst/>
          </a:prstGeom>
          <a:solidFill>
            <a:srgbClr val="3A3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000" y="5472000"/>
            <a:ext cx="5760000" cy="720000"/>
          </a:xfrm>
          <a:prstGeom prst="rect">
            <a:avLst/>
          </a:prstGeom>
          <a:noFill/>
        </p:spPr>
        <p:txBody>
          <a:bodyPr wrap="square" lIns="0" rIns="0" tIns="0" bIns="0">
            <a:spAutoFit/>
          </a:bodyPr>
          <a:lstStyle/>
          <a:p>
            <a:pPr algn="l">
              <a:lnSpc>
                <a:spcPct val="150000"/>
              </a:lnSpc>
              <a:spcAft>
                <a:spcPts val="0"/>
              </a:spcAft>
            </a:pPr>
            <a:r>
              <a:rPr sz="1100" b="0" i="0">
                <a:solidFill>
                  <a:srgbClr val="6A635B"/>
                </a:solidFill>
                <a:latin typeface="Calibri"/>
              </a:rPr>
              <a:t>Proposition d’approche soumise à Jean-Calvin Ethien</a:t>
            </a:r>
          </a:p>
          <a:p>
            <a:pPr algn="l">
              <a:lnSpc>
                <a:spcPct val="150000"/>
              </a:lnSpc>
              <a:spcAft>
                <a:spcPts val="0"/>
              </a:spcAft>
            </a:pPr>
            <a:r>
              <a:rPr sz="1100" b="0" i="0">
                <a:solidFill>
                  <a:srgbClr val="6A635B"/>
                </a:solidFill>
                <a:latin typeface="Calibri"/>
              </a:rPr>
              <a:t>Mac Arthur N’Guessan Kouassi  ·  agence Mr Attractor  ·  27 août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FA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92000" y="540000"/>
            <a:ext cx="10609200" cy="288000"/>
          </a:xfrm>
          <a:prstGeom prst="rect">
            <a:avLst/>
          </a:prstGeom>
          <a:noFill/>
        </p:spPr>
        <p:txBody>
          <a:bodyPr wrap="square" lIns="0" rIns="0" tIns="0" bIns="0">
            <a:spAutoFit/>
          </a:bodyPr>
          <a:lstStyle/>
          <a:p>
            <a:pPr algn="l">
              <a:lnSpc>
                <a:spcPct val="125000"/>
              </a:lnSpc>
              <a:spcAft>
                <a:spcPts val="0"/>
              </a:spcAft>
            </a:pPr>
            <a:r>
              <a:rPr sz="1050" b="1" i="0">
                <a:solidFill>
                  <a:srgbClr val="F25C05"/>
                </a:solidFill>
                <a:latin typeface="Calibri"/>
              </a:rPr>
              <a:t>LE POINT DE DÉPART</a:t>
            </a:r>
          </a:p>
        </p:txBody>
      </p:sp>
      <p:sp>
        <p:nvSpPr>
          <p:cNvPr id="4" name="TextBox 3"/>
          <p:cNvSpPr txBox="1"/>
          <p:nvPr/>
        </p:nvSpPr>
        <p:spPr>
          <a:xfrm>
            <a:off x="792000" y="810000"/>
            <a:ext cx="10609200" cy="720000"/>
          </a:xfrm>
          <a:prstGeom prst="rect">
            <a:avLst/>
          </a:prstGeom>
          <a:noFill/>
        </p:spPr>
        <p:txBody>
          <a:bodyPr wrap="square" lIns="0" rIns="0" tIns="0" bIns="0">
            <a:spAutoFit/>
          </a:bodyPr>
          <a:lstStyle/>
          <a:p>
            <a:pPr algn="l">
              <a:lnSpc>
                <a:spcPct val="110000"/>
              </a:lnSpc>
              <a:spcAft>
                <a:spcPts val="0"/>
              </a:spcAft>
            </a:pPr>
            <a:r>
              <a:rPr sz="2600" b="1" i="0">
                <a:solidFill>
                  <a:srgbClr val="1A1714"/>
                </a:solidFill>
                <a:latin typeface="Calibri"/>
              </a:rPr>
              <a:t>La promesse est déjà écrite dans votre catalogue</a:t>
            </a:r>
          </a:p>
        </p:txBody>
      </p:sp>
      <p:sp>
        <p:nvSpPr>
          <p:cNvPr id="5" name="Rectangle 4"/>
          <p:cNvSpPr/>
          <p:nvPr/>
        </p:nvSpPr>
        <p:spPr>
          <a:xfrm>
            <a:off x="792000" y="1278000"/>
            <a:ext cx="1224000" cy="36000"/>
          </a:xfrm>
          <a:prstGeom prst="rect">
            <a:avLst/>
          </a:prstGeom>
          <a:solidFill>
            <a:srgbClr val="F25C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92000" y="1764000"/>
            <a:ext cx="10609200" cy="1584000"/>
          </a:xfrm>
          <a:prstGeom prst="roundRect">
            <a:avLst>
              <a:gd name="adj" fmla="val 4000"/>
            </a:avLst>
          </a:prstGeom>
          <a:solidFill>
            <a:srgbClr val="FFFFFF"/>
          </a:solidFill>
          <a:ln w="9525">
            <a:solidFill>
              <a:srgbClr val="E7E1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92000" y="1764000"/>
            <a:ext cx="43200" cy="1584000"/>
          </a:xfrm>
          <a:prstGeom prst="rect">
            <a:avLst/>
          </a:prstGeom>
          <a:solidFill>
            <a:srgbClr val="1E5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6000" y="2015999"/>
            <a:ext cx="9961200" cy="936000"/>
          </a:xfrm>
          <a:prstGeom prst="rect">
            <a:avLst/>
          </a:prstGeom>
          <a:noFill/>
        </p:spPr>
        <p:txBody>
          <a:bodyPr wrap="square" lIns="0" rIns="0" tIns="0" bIns="0">
            <a:spAutoFit/>
          </a:bodyPr>
          <a:lstStyle/>
          <a:p>
            <a:pPr algn="l">
              <a:lnSpc>
                <a:spcPct val="145000"/>
              </a:lnSpc>
              <a:spcAft>
                <a:spcPts val="0"/>
              </a:spcAft>
            </a:pPr>
            <a:r>
              <a:rPr sz="1450" b="0" i="1">
                <a:solidFill>
                  <a:srgbClr val="2A2521"/>
                </a:solidFill>
                <a:latin typeface="Calibri"/>
              </a:rPr>
              <a:t>« À l’issue du programme, chaque participant développe un Plan d’Action IA</a:t>
            </a:r>
          </a:p>
          <a:p>
            <a:pPr algn="l">
              <a:lnSpc>
                <a:spcPct val="145000"/>
              </a:lnSpc>
              <a:spcAft>
                <a:spcPts val="0"/>
              </a:spcAft>
            </a:pPr>
            <a:r>
              <a:rPr sz="1450" b="0" i="1">
                <a:solidFill>
                  <a:srgbClr val="2A2521"/>
                </a:solidFill>
                <a:latin typeface="Calibri"/>
              </a:rPr>
              <a:t>pour Opérateurs Touristiques personnalisé : une feuille de route IA adaptée</a:t>
            </a:r>
          </a:p>
          <a:p>
            <a:pPr algn="l">
              <a:lnSpc>
                <a:spcPct val="145000"/>
              </a:lnSpc>
              <a:spcAft>
                <a:spcPts val="0"/>
              </a:spcAft>
            </a:pPr>
            <a:r>
              <a:rPr sz="1450" b="0" i="1">
                <a:solidFill>
                  <a:srgbClr val="2A2521"/>
                </a:solidFill>
                <a:latin typeface="Calibri"/>
              </a:rPr>
              <a:t>à l’établissement ou à la destination. »</a:t>
            </a:r>
          </a:p>
        </p:txBody>
      </p:sp>
      <p:sp>
        <p:nvSpPr>
          <p:cNvPr id="9" name="TextBox 8"/>
          <p:cNvSpPr txBox="1"/>
          <p:nvPr/>
        </p:nvSpPr>
        <p:spPr>
          <a:xfrm>
            <a:off x="1116000" y="3096000"/>
            <a:ext cx="9961200" cy="216000"/>
          </a:xfrm>
          <a:prstGeom prst="rect">
            <a:avLst/>
          </a:prstGeom>
          <a:noFill/>
        </p:spPr>
        <p:txBody>
          <a:bodyPr wrap="square" lIns="0" rIns="0" tIns="0" bIns="0">
            <a:spAutoFit/>
          </a:bodyPr>
          <a:lstStyle/>
          <a:p>
            <a:pPr algn="l">
              <a:lnSpc>
                <a:spcPct val="125000"/>
              </a:lnSpc>
              <a:spcAft>
                <a:spcPts val="0"/>
              </a:spcAft>
            </a:pPr>
            <a:r>
              <a:rPr sz="950" b="0" i="0">
                <a:solidFill>
                  <a:srgbClr val="6A635B"/>
                </a:solidFill>
                <a:latin typeface="Calibri"/>
              </a:rPr>
              <a:t>Brochure ETHSUN, Sprint IA Tourisme et Loisirs, livrable final</a:t>
            </a:r>
          </a:p>
        </p:txBody>
      </p:sp>
      <p:sp>
        <p:nvSpPr>
          <p:cNvPr id="10" name="TextBox 9"/>
          <p:cNvSpPr txBox="1"/>
          <p:nvPr/>
        </p:nvSpPr>
        <p:spPr>
          <a:xfrm>
            <a:off x="792000" y="3600000"/>
            <a:ext cx="10609200" cy="432000"/>
          </a:xfrm>
          <a:prstGeom prst="rect">
            <a:avLst/>
          </a:prstGeom>
          <a:noFill/>
        </p:spPr>
        <p:txBody>
          <a:bodyPr wrap="square" lIns="0" rIns="0" tIns="0" bIns="0">
            <a:spAutoFit/>
          </a:bodyPr>
          <a:lstStyle/>
          <a:p>
            <a:pPr algn="l">
              <a:lnSpc>
                <a:spcPct val="135000"/>
              </a:lnSpc>
              <a:spcAft>
                <a:spcPts val="0"/>
              </a:spcAft>
            </a:pPr>
            <a:r>
              <a:rPr sz="1700" b="1" i="0">
                <a:solidFill>
                  <a:srgbClr val="1A1714"/>
                </a:solidFill>
                <a:latin typeface="Calibri"/>
              </a:rPr>
              <a:t>La question n’est donc pas d’ajouter une promesse. Elle est de savoir comment celle-ci est tenue en deux jours.</a:t>
            </a:r>
          </a:p>
        </p:txBody>
      </p:sp>
      <p:sp>
        <p:nvSpPr>
          <p:cNvPr id="11" name="Rounded Rectangle 10"/>
          <p:cNvSpPr/>
          <p:nvPr/>
        </p:nvSpPr>
        <p:spPr>
          <a:xfrm>
            <a:off x="792000" y="4284000"/>
            <a:ext cx="5142600" cy="1512000"/>
          </a:xfrm>
          <a:prstGeom prst="roundRect">
            <a:avLst>
              <a:gd name="adj" fmla="val 4000"/>
            </a:avLst>
          </a:prstGeom>
          <a:solidFill>
            <a:srgbClr val="E7E1D8"/>
          </a:solidFill>
          <a:ln w="9525">
            <a:solidFill>
              <a:srgbClr val="E7E1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92000" y="4284000"/>
            <a:ext cx="5142600" cy="36000"/>
          </a:xfrm>
          <a:prstGeom prst="rect">
            <a:avLst/>
          </a:prstGeom>
          <a:solidFill>
            <a:srgbClr val="6A63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000" y="4572000"/>
            <a:ext cx="4566600" cy="288000"/>
          </a:xfrm>
          <a:prstGeom prst="rect">
            <a:avLst/>
          </a:prstGeom>
          <a:noFill/>
        </p:spPr>
        <p:txBody>
          <a:bodyPr wrap="square" lIns="0" rIns="0" tIns="0" bIns="0">
            <a:spAutoFit/>
          </a:bodyPr>
          <a:lstStyle/>
          <a:p>
            <a:pPr algn="l">
              <a:lnSpc>
                <a:spcPct val="125000"/>
              </a:lnSpc>
              <a:spcAft>
                <a:spcPts val="0"/>
              </a:spcAft>
            </a:pPr>
            <a:r>
              <a:rPr sz="1400" b="1" i="0">
                <a:solidFill>
                  <a:srgbClr val="6A635B"/>
                </a:solidFill>
                <a:latin typeface="Calibri"/>
              </a:rPr>
              <a:t>Si elle est tenue par un modèle</a:t>
            </a:r>
          </a:p>
        </p:txBody>
      </p:sp>
      <p:sp>
        <p:nvSpPr>
          <p:cNvPr id="14" name="TextBox 13"/>
          <p:cNvSpPr txBox="1"/>
          <p:nvPr/>
        </p:nvSpPr>
        <p:spPr>
          <a:xfrm>
            <a:off x="1080000" y="4932000"/>
            <a:ext cx="4566600" cy="756000"/>
          </a:xfrm>
          <a:prstGeom prst="rect">
            <a:avLst/>
          </a:prstGeom>
          <a:noFill/>
        </p:spPr>
        <p:txBody>
          <a:bodyPr wrap="square" lIns="0" rIns="0" tIns="0" bIns="0">
            <a:spAutoFit/>
          </a:bodyPr>
          <a:lstStyle/>
          <a:p>
            <a:pPr algn="l">
              <a:lnSpc>
                <a:spcPct val="140000"/>
              </a:lnSpc>
              <a:spcAft>
                <a:spcPts val="0"/>
              </a:spcAft>
            </a:pPr>
            <a:r>
              <a:rPr sz="1250" b="0" i="0">
                <a:solidFill>
                  <a:srgbClr val="6A635B"/>
                </a:solidFill>
                <a:latin typeface="Calibri"/>
              </a:rPr>
              <a:t>Le participant repart avec un document à remplir chez lui. Il ne le remplira pas. Le Sprint est jugé sur ce qu’il n’a pas produit.</a:t>
            </a:r>
          </a:p>
        </p:txBody>
      </p:sp>
      <p:sp>
        <p:nvSpPr>
          <p:cNvPr id="15" name="Rounded Rectangle 14"/>
          <p:cNvSpPr/>
          <p:nvPr/>
        </p:nvSpPr>
        <p:spPr>
          <a:xfrm>
            <a:off x="6258600" y="4284000"/>
            <a:ext cx="5142600" cy="1512000"/>
          </a:xfrm>
          <a:prstGeom prst="roundRect">
            <a:avLst>
              <a:gd name="adj" fmla="val 4000"/>
            </a:avLst>
          </a:prstGeom>
          <a:solidFill>
            <a:srgbClr val="FFFFFF"/>
          </a:solidFill>
          <a:ln w="9525">
            <a:solidFill>
              <a:srgbClr val="E7E1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258600" y="4284000"/>
            <a:ext cx="5142600" cy="36000"/>
          </a:xfrm>
          <a:prstGeom prst="rect">
            <a:avLst/>
          </a:prstGeom>
          <a:solidFill>
            <a:srgbClr val="F25C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46600" y="4572000"/>
            <a:ext cx="4566600" cy="288000"/>
          </a:xfrm>
          <a:prstGeom prst="rect">
            <a:avLst/>
          </a:prstGeom>
          <a:noFill/>
        </p:spPr>
        <p:txBody>
          <a:bodyPr wrap="square" lIns="0" rIns="0" tIns="0" bIns="0">
            <a:spAutoFit/>
          </a:bodyPr>
          <a:lstStyle/>
          <a:p>
            <a:pPr algn="l">
              <a:lnSpc>
                <a:spcPct val="125000"/>
              </a:lnSpc>
              <a:spcAft>
                <a:spcPts val="0"/>
              </a:spcAft>
            </a:pPr>
            <a:r>
              <a:rPr sz="1400" b="1" i="0">
                <a:solidFill>
                  <a:srgbClr val="1A1714"/>
                </a:solidFill>
                <a:latin typeface="Calibri"/>
              </a:rPr>
              <a:t>Si elle est tenue par un outil</a:t>
            </a:r>
          </a:p>
        </p:txBody>
      </p:sp>
      <p:sp>
        <p:nvSpPr>
          <p:cNvPr id="18" name="TextBox 17"/>
          <p:cNvSpPr txBox="1"/>
          <p:nvPr/>
        </p:nvSpPr>
        <p:spPr>
          <a:xfrm>
            <a:off x="6546600" y="4932000"/>
            <a:ext cx="4566600" cy="756000"/>
          </a:xfrm>
          <a:prstGeom prst="rect">
            <a:avLst/>
          </a:prstGeom>
          <a:noFill/>
        </p:spPr>
        <p:txBody>
          <a:bodyPr wrap="square" lIns="0" rIns="0" tIns="0" bIns="0">
            <a:spAutoFit/>
          </a:bodyPr>
          <a:lstStyle/>
          <a:p>
            <a:pPr algn="l">
              <a:lnSpc>
                <a:spcPct val="140000"/>
              </a:lnSpc>
              <a:spcAft>
                <a:spcPts val="0"/>
              </a:spcAft>
            </a:pPr>
            <a:r>
              <a:rPr sz="1250" b="0" i="0">
                <a:solidFill>
                  <a:srgbClr val="2A2521"/>
                </a:solidFill>
                <a:latin typeface="Calibri"/>
              </a:rPr>
              <a:t>Le plan sort rempli de ses propres chiffres à la fin du deuxième jour. La promesse du catalogue devient vérifiable devant lui.</a:t>
            </a:r>
          </a:p>
        </p:txBody>
      </p:sp>
      <p:sp>
        <p:nvSpPr>
          <p:cNvPr id="19" name="TextBox 18"/>
          <p:cNvSpPr txBox="1"/>
          <p:nvPr/>
        </p:nvSpPr>
        <p:spPr>
          <a:xfrm>
            <a:off x="792000" y="6372000"/>
            <a:ext cx="9889200" cy="216000"/>
          </a:xfrm>
          <a:prstGeom prst="rect">
            <a:avLst/>
          </a:prstGeom>
          <a:noFill/>
        </p:spPr>
        <p:txBody>
          <a:bodyPr wrap="square" lIns="0" rIns="0" tIns="0" bIns="0">
            <a:spAutoFit/>
          </a:bodyPr>
          <a:lstStyle/>
          <a:p>
            <a:pPr algn="l">
              <a:lnSpc>
                <a:spcPct val="125000"/>
              </a:lnSpc>
              <a:spcAft>
                <a:spcPts val="0"/>
              </a:spcAft>
            </a:pPr>
            <a:r>
              <a:rPr sz="800" b="0" i="0">
                <a:solidFill>
                  <a:srgbClr val="6A635B"/>
                </a:solidFill>
                <a:latin typeface="Calibri"/>
              </a:rPr>
              <a:t>Mr Attractor  ·  proposition d’approche  ·  Sprint IA Tourisme et Loisirs</a:t>
            </a:r>
          </a:p>
        </p:txBody>
      </p:sp>
      <p:sp>
        <p:nvSpPr>
          <p:cNvPr id="20" name="TextBox 19"/>
          <p:cNvSpPr txBox="1"/>
          <p:nvPr/>
        </p:nvSpPr>
        <p:spPr>
          <a:xfrm>
            <a:off x="10681200" y="6372000"/>
            <a:ext cx="720000" cy="216000"/>
          </a:xfrm>
          <a:prstGeom prst="rect">
            <a:avLst/>
          </a:prstGeom>
          <a:noFill/>
        </p:spPr>
        <p:txBody>
          <a:bodyPr wrap="square" lIns="0" rIns="0" tIns="0" bIns="0">
            <a:spAutoFit/>
          </a:bodyPr>
          <a:lstStyle/>
          <a:p>
            <a:pPr algn="r">
              <a:lnSpc>
                <a:spcPct val="125000"/>
              </a:lnSpc>
              <a:spcAft>
                <a:spcPts val="0"/>
              </a:spcAft>
            </a:pPr>
            <a:r>
              <a:rPr sz="800" b="0" i="0">
                <a:solidFill>
                  <a:srgbClr val="6A635B"/>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FA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92000" y="540000"/>
            <a:ext cx="10609200" cy="288000"/>
          </a:xfrm>
          <a:prstGeom prst="rect">
            <a:avLst/>
          </a:prstGeom>
          <a:noFill/>
        </p:spPr>
        <p:txBody>
          <a:bodyPr wrap="square" lIns="0" rIns="0" tIns="0" bIns="0">
            <a:spAutoFit/>
          </a:bodyPr>
          <a:lstStyle/>
          <a:p>
            <a:pPr algn="l">
              <a:lnSpc>
                <a:spcPct val="125000"/>
              </a:lnSpc>
              <a:spcAft>
                <a:spcPts val="0"/>
              </a:spcAft>
            </a:pPr>
            <a:r>
              <a:rPr sz="1050" b="1" i="0">
                <a:solidFill>
                  <a:srgbClr val="F25C05"/>
                </a:solidFill>
                <a:latin typeface="Calibri"/>
              </a:rPr>
              <a:t>CE QU’IL FAUT REGARDER EN FACE</a:t>
            </a:r>
          </a:p>
        </p:txBody>
      </p:sp>
      <p:sp>
        <p:nvSpPr>
          <p:cNvPr id="4" name="TextBox 3"/>
          <p:cNvSpPr txBox="1"/>
          <p:nvPr/>
        </p:nvSpPr>
        <p:spPr>
          <a:xfrm>
            <a:off x="792000" y="810000"/>
            <a:ext cx="10609200" cy="720000"/>
          </a:xfrm>
          <a:prstGeom prst="rect">
            <a:avLst/>
          </a:prstGeom>
          <a:noFill/>
        </p:spPr>
        <p:txBody>
          <a:bodyPr wrap="square" lIns="0" rIns="0" tIns="0" bIns="0">
            <a:spAutoFit/>
          </a:bodyPr>
          <a:lstStyle/>
          <a:p>
            <a:pPr algn="l">
              <a:lnSpc>
                <a:spcPct val="110000"/>
              </a:lnSpc>
              <a:spcAft>
                <a:spcPts val="0"/>
              </a:spcAft>
            </a:pPr>
            <a:r>
              <a:rPr sz="2600" b="1" i="0">
                <a:solidFill>
                  <a:srgbClr val="1A1714"/>
                </a:solidFill>
                <a:latin typeface="Calibri"/>
              </a:rPr>
              <a:t>Le marché ivoirien a déjà été formé, gratuitement</a:t>
            </a:r>
          </a:p>
        </p:txBody>
      </p:sp>
      <p:sp>
        <p:nvSpPr>
          <p:cNvPr id="5" name="Rectangle 4"/>
          <p:cNvSpPr/>
          <p:nvPr/>
        </p:nvSpPr>
        <p:spPr>
          <a:xfrm>
            <a:off x="792000" y="1278000"/>
            <a:ext cx="1224000" cy="36000"/>
          </a:xfrm>
          <a:prstGeom prst="rect">
            <a:avLst/>
          </a:prstGeom>
          <a:solidFill>
            <a:srgbClr val="F25C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2000" y="1655999"/>
            <a:ext cx="7020000" cy="1036929"/>
          </a:xfrm>
          <a:prstGeom prst="rect">
            <a:avLst/>
          </a:prstGeom>
          <a:noFill/>
        </p:spPr>
        <p:txBody>
          <a:bodyPr wrap="square" lIns="0" rIns="0" tIns="0" bIns="0">
            <a:spAutoFit/>
          </a:bodyPr>
          <a:lstStyle/>
          <a:p>
            <a:pPr algn="l">
              <a:lnSpc>
                <a:spcPct val="150000"/>
              </a:lnSpc>
              <a:spcAft>
                <a:spcPts val="0"/>
              </a:spcAft>
            </a:pPr>
            <a:r>
              <a:rPr sz="1400" b="0" i="0">
                <a:solidFill>
                  <a:srgbClr val="2A2521"/>
                </a:solidFill>
                <a:latin typeface="Calibri"/>
              </a:rPr>
              <a:t>En octobre 2025, la direction en charge de la digitalisation au ministère du Tourisme a formé 120 opérateurs touristiques ivoiriens à l’intelligence artificielle et au marketing digital. Deux jours. Sans frais.</a:t>
            </a:r>
          </a:p>
        </p:txBody>
      </p:sp>
      <p:sp>
        <p:nvSpPr>
          <p:cNvPr id="7" name="TextBox 6"/>
          <p:cNvSpPr txBox="1"/>
          <p:nvPr/>
        </p:nvSpPr>
        <p:spPr>
          <a:xfrm>
            <a:off x="792000" y="2854928"/>
            <a:ext cx="7020000" cy="691286"/>
          </a:xfrm>
          <a:prstGeom prst="rect">
            <a:avLst/>
          </a:prstGeom>
          <a:noFill/>
        </p:spPr>
        <p:txBody>
          <a:bodyPr wrap="square" lIns="0" rIns="0" tIns="0" bIns="0">
            <a:spAutoFit/>
          </a:bodyPr>
          <a:lstStyle/>
          <a:p>
            <a:pPr algn="l">
              <a:lnSpc>
                <a:spcPct val="150000"/>
              </a:lnSpc>
              <a:spcAft>
                <a:spcPts val="0"/>
              </a:spcAft>
            </a:pPr>
            <a:r>
              <a:rPr sz="1400" b="0" i="0">
                <a:solidFill>
                  <a:srgbClr val="2A2521"/>
                </a:solidFill>
                <a:latin typeface="Calibri"/>
              </a:rPr>
              <a:t>Ce n’est pas une mauvaise nouvelle. Un public déjà sensibilisé n’a plus besoin d’être convaincu que le sujet le concerne, et c’est du temps gagné.</a:t>
            </a:r>
          </a:p>
        </p:txBody>
      </p:sp>
      <p:sp>
        <p:nvSpPr>
          <p:cNvPr id="8" name="Rounded Rectangle 7"/>
          <p:cNvSpPr/>
          <p:nvPr/>
        </p:nvSpPr>
        <p:spPr>
          <a:xfrm>
            <a:off x="8244000" y="1764000"/>
            <a:ext cx="3168000" cy="1368000"/>
          </a:xfrm>
          <a:prstGeom prst="roundRect">
            <a:avLst>
              <a:gd name="adj" fmla="val 4000"/>
            </a:avLst>
          </a:prstGeom>
          <a:solidFill>
            <a:srgbClr val="1A1714"/>
          </a:solidFill>
          <a:ln w="9525">
            <a:solidFill>
              <a:srgbClr val="1A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532000" y="1944000"/>
            <a:ext cx="2592000" cy="740664"/>
          </a:xfrm>
          <a:prstGeom prst="rect">
            <a:avLst/>
          </a:prstGeom>
          <a:noFill/>
        </p:spPr>
        <p:txBody>
          <a:bodyPr wrap="square" lIns="0" rIns="0" tIns="0" bIns="0">
            <a:spAutoFit/>
          </a:bodyPr>
          <a:lstStyle/>
          <a:p>
            <a:pPr algn="l">
              <a:lnSpc>
                <a:spcPct val="125000"/>
              </a:lnSpc>
              <a:spcAft>
                <a:spcPts val="0"/>
              </a:spcAft>
            </a:pPr>
            <a:r>
              <a:rPr sz="3600" b="1" i="0">
                <a:solidFill>
                  <a:srgbClr val="FF7A2E"/>
                </a:solidFill>
                <a:latin typeface="Calibri"/>
              </a:rPr>
              <a:t>120</a:t>
            </a:r>
          </a:p>
        </p:txBody>
      </p:sp>
      <p:sp>
        <p:nvSpPr>
          <p:cNvPr id="10" name="TextBox 9"/>
          <p:cNvSpPr txBox="1"/>
          <p:nvPr/>
        </p:nvSpPr>
        <p:spPr>
          <a:xfrm>
            <a:off x="8532000" y="2738664"/>
            <a:ext cx="2592000" cy="488838"/>
          </a:xfrm>
          <a:prstGeom prst="rect">
            <a:avLst/>
          </a:prstGeom>
          <a:noFill/>
        </p:spPr>
        <p:txBody>
          <a:bodyPr wrap="square" lIns="0" rIns="0" tIns="0" bIns="0">
            <a:spAutoFit/>
          </a:bodyPr>
          <a:lstStyle/>
          <a:p>
            <a:pPr algn="l">
              <a:lnSpc>
                <a:spcPct val="135000"/>
              </a:lnSpc>
              <a:spcAft>
                <a:spcPts val="0"/>
              </a:spcAft>
            </a:pPr>
            <a:r>
              <a:rPr sz="1100" b="0" i="0">
                <a:solidFill>
                  <a:srgbClr val="E7E1D8"/>
                </a:solidFill>
                <a:latin typeface="Calibri"/>
              </a:rPr>
              <a:t>opérateurs touristiques déjà</a:t>
            </a:r>
          </a:p>
          <a:p>
            <a:pPr algn="l">
              <a:lnSpc>
                <a:spcPct val="135000"/>
              </a:lnSpc>
              <a:spcAft>
                <a:spcPts val="0"/>
              </a:spcAft>
            </a:pPr>
            <a:r>
              <a:rPr sz="1100" b="0" i="0">
                <a:solidFill>
                  <a:srgbClr val="E7E1D8"/>
                </a:solidFill>
                <a:latin typeface="Calibri"/>
              </a:rPr>
              <a:t>formés, sans frais, en 2025</a:t>
            </a:r>
          </a:p>
        </p:txBody>
      </p:sp>
      <p:sp>
        <p:nvSpPr>
          <p:cNvPr id="11" name="TextBox 10"/>
          <p:cNvSpPr txBox="1"/>
          <p:nvPr/>
        </p:nvSpPr>
        <p:spPr>
          <a:xfrm>
            <a:off x="792000" y="3762214"/>
            <a:ext cx="10609200" cy="855878"/>
          </a:xfrm>
          <a:prstGeom prst="rect">
            <a:avLst/>
          </a:prstGeom>
          <a:noFill/>
        </p:spPr>
        <p:txBody>
          <a:bodyPr wrap="square" lIns="0" rIns="0" tIns="0" bIns="0">
            <a:spAutoFit/>
          </a:bodyPr>
          <a:lstStyle/>
          <a:p>
            <a:pPr algn="l">
              <a:lnSpc>
                <a:spcPct val="130000"/>
              </a:lnSpc>
              <a:spcAft>
                <a:spcPts val="0"/>
              </a:spcAft>
            </a:pPr>
            <a:r>
              <a:rPr sz="2000" b="1" i="0">
                <a:solidFill>
                  <a:srgbClr val="1A1714"/>
                </a:solidFill>
                <a:latin typeface="Calibri"/>
              </a:rPr>
              <a:t>Le risque n’est pas de reprendre les mêmes thèmes.</a:t>
            </a:r>
          </a:p>
          <a:p>
            <a:pPr algn="l">
              <a:lnSpc>
                <a:spcPct val="130000"/>
              </a:lnSpc>
              <a:spcAft>
                <a:spcPts val="0"/>
              </a:spcAft>
            </a:pPr>
            <a:r>
              <a:rPr sz="2000" b="1" i="0">
                <a:solidFill>
                  <a:srgbClr val="1A1714"/>
                </a:solidFill>
                <a:latin typeface="Calibri"/>
              </a:rPr>
              <a:t>Le risque est de les reprendre au même niveau.</a:t>
            </a:r>
          </a:p>
        </p:txBody>
      </p:sp>
      <p:sp>
        <p:nvSpPr>
          <p:cNvPr id="12" name="Rounded Rectangle 11"/>
          <p:cNvSpPr/>
          <p:nvPr/>
        </p:nvSpPr>
        <p:spPr>
          <a:xfrm>
            <a:off x="792000" y="4816092"/>
            <a:ext cx="10609200" cy="1394863"/>
          </a:xfrm>
          <a:prstGeom prst="roundRect">
            <a:avLst>
              <a:gd name="adj" fmla="val 4000"/>
            </a:avLst>
          </a:prstGeom>
          <a:solidFill>
            <a:srgbClr val="FFFFFF"/>
          </a:solidFill>
          <a:ln w="9525">
            <a:solidFill>
              <a:srgbClr val="E7E1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92000" y="4816092"/>
            <a:ext cx="10609200" cy="36000"/>
          </a:xfrm>
          <a:prstGeom prst="rect">
            <a:avLst/>
          </a:prstGeom>
          <a:solidFill>
            <a:srgbClr val="F25C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16000" y="5032092"/>
            <a:ext cx="9961200" cy="962863"/>
          </a:xfrm>
          <a:prstGeom prst="rect">
            <a:avLst/>
          </a:prstGeom>
          <a:noFill/>
        </p:spPr>
        <p:txBody>
          <a:bodyPr wrap="square" lIns="0" rIns="0" tIns="0" bIns="0">
            <a:spAutoFit/>
          </a:bodyPr>
          <a:lstStyle/>
          <a:p>
            <a:pPr algn="l">
              <a:lnSpc>
                <a:spcPct val="150000"/>
              </a:lnSpc>
              <a:spcAft>
                <a:spcPts val="0"/>
              </a:spcAft>
            </a:pPr>
            <a:r>
              <a:rPr sz="1300" b="0" i="0">
                <a:solidFill>
                  <a:srgbClr val="2A2521"/>
                </a:solidFill>
                <a:latin typeface="Calibri"/>
              </a:rPr>
              <a:t>Une sensibilisation collective fait découvrir, elle n’installe rien. Un Sprint payant à 488 € doit donc produire ce que la formation gratuite ne produit pas : non pas un autre discours, mais un objet construit sur les chiffres réels du participant, et qu’il utilise le lundi matin.</a:t>
            </a:r>
          </a:p>
        </p:txBody>
      </p:sp>
      <p:sp>
        <p:nvSpPr>
          <p:cNvPr id="15" name="TextBox 14"/>
          <p:cNvSpPr txBox="1"/>
          <p:nvPr/>
        </p:nvSpPr>
        <p:spPr>
          <a:xfrm>
            <a:off x="792000" y="6372000"/>
            <a:ext cx="9889200" cy="216000"/>
          </a:xfrm>
          <a:prstGeom prst="rect">
            <a:avLst/>
          </a:prstGeom>
          <a:noFill/>
        </p:spPr>
        <p:txBody>
          <a:bodyPr wrap="square" lIns="0" rIns="0" tIns="0" bIns="0">
            <a:spAutoFit/>
          </a:bodyPr>
          <a:lstStyle/>
          <a:p>
            <a:pPr algn="l">
              <a:lnSpc>
                <a:spcPct val="125000"/>
              </a:lnSpc>
              <a:spcAft>
                <a:spcPts val="0"/>
              </a:spcAft>
            </a:pPr>
            <a:r>
              <a:rPr sz="800" b="0" i="0">
                <a:solidFill>
                  <a:srgbClr val="6A635B"/>
                </a:solidFill>
                <a:latin typeface="Calibri"/>
              </a:rPr>
              <a:t>Mr Attractor  ·  proposition d’approche  ·  Sprint IA Tourisme et Loisirs</a:t>
            </a:r>
          </a:p>
        </p:txBody>
      </p:sp>
      <p:sp>
        <p:nvSpPr>
          <p:cNvPr id="16" name="TextBox 15"/>
          <p:cNvSpPr txBox="1"/>
          <p:nvPr/>
        </p:nvSpPr>
        <p:spPr>
          <a:xfrm>
            <a:off x="10681200" y="6372000"/>
            <a:ext cx="720000" cy="216000"/>
          </a:xfrm>
          <a:prstGeom prst="rect">
            <a:avLst/>
          </a:prstGeom>
          <a:noFill/>
        </p:spPr>
        <p:txBody>
          <a:bodyPr wrap="square" lIns="0" rIns="0" tIns="0" bIns="0">
            <a:spAutoFit/>
          </a:bodyPr>
          <a:lstStyle/>
          <a:p>
            <a:pPr algn="r">
              <a:lnSpc>
                <a:spcPct val="125000"/>
              </a:lnSpc>
              <a:spcAft>
                <a:spcPts val="0"/>
              </a:spcAft>
            </a:pPr>
            <a:r>
              <a:rPr sz="800" b="0" i="0">
                <a:solidFill>
                  <a:srgbClr val="6A635B"/>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1A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92000" y="720000"/>
            <a:ext cx="10609200" cy="288000"/>
          </a:xfrm>
          <a:prstGeom prst="rect">
            <a:avLst/>
          </a:prstGeom>
          <a:noFill/>
        </p:spPr>
        <p:txBody>
          <a:bodyPr wrap="square" lIns="0" rIns="0" tIns="0" bIns="0">
            <a:spAutoFit/>
          </a:bodyPr>
          <a:lstStyle/>
          <a:p>
            <a:pPr algn="l">
              <a:lnSpc>
                <a:spcPct val="125000"/>
              </a:lnSpc>
              <a:spcAft>
                <a:spcPts val="0"/>
              </a:spcAft>
            </a:pPr>
            <a:r>
              <a:rPr sz="1100" b="1" i="0">
                <a:solidFill>
                  <a:srgbClr val="FF7A2E"/>
                </a:solidFill>
                <a:latin typeface="Calibri"/>
              </a:rPr>
              <a:t>LA BASCULE PROPOSÉE</a:t>
            </a:r>
          </a:p>
        </p:txBody>
      </p:sp>
      <p:sp>
        <p:nvSpPr>
          <p:cNvPr id="4" name="Rectangle 3"/>
          <p:cNvSpPr/>
          <p:nvPr/>
        </p:nvSpPr>
        <p:spPr>
          <a:xfrm>
            <a:off x="792000" y="1026000"/>
            <a:ext cx="1224000" cy="36000"/>
          </a:xfrm>
          <a:prstGeom prst="rect">
            <a:avLst/>
          </a:prstGeom>
          <a:solidFill>
            <a:srgbClr val="F25C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2000" y="1548000"/>
            <a:ext cx="9720000" cy="1655999"/>
          </a:xfrm>
          <a:prstGeom prst="rect">
            <a:avLst/>
          </a:prstGeom>
          <a:noFill/>
        </p:spPr>
        <p:txBody>
          <a:bodyPr wrap="square" lIns="0" rIns="0" tIns="0" bIns="0">
            <a:spAutoFit/>
          </a:bodyPr>
          <a:lstStyle/>
          <a:p>
            <a:pPr algn="l">
              <a:lnSpc>
                <a:spcPct val="115000"/>
              </a:lnSpc>
              <a:spcAft>
                <a:spcPts val="0"/>
              </a:spcAft>
            </a:pPr>
            <a:r>
              <a:rPr sz="4000" b="1" i="0">
                <a:solidFill>
                  <a:srgbClr val="FFFFFF"/>
                </a:solidFill>
                <a:latin typeface="Calibri"/>
              </a:rPr>
              <a:t>Le participant n’apprend pas</a:t>
            </a:r>
          </a:p>
          <a:p>
            <a:pPr algn="l">
              <a:lnSpc>
                <a:spcPct val="115000"/>
              </a:lnSpc>
              <a:spcAft>
                <a:spcPts val="0"/>
              </a:spcAft>
            </a:pPr>
            <a:r>
              <a:rPr sz="4000" b="1" i="0">
                <a:solidFill>
                  <a:srgbClr val="FFFFFF"/>
                </a:solidFill>
                <a:latin typeface="Calibri"/>
              </a:rPr>
              <a:t>ce qu’il pourrait faire.</a:t>
            </a:r>
          </a:p>
          <a:p>
            <a:pPr algn="l">
              <a:lnSpc>
                <a:spcPct val="115000"/>
              </a:lnSpc>
              <a:spcAft>
                <a:spcPts val="0"/>
              </a:spcAft>
            </a:pPr>
            <a:r>
              <a:rPr sz="4000" b="1" i="0">
                <a:solidFill>
                  <a:srgbClr val="FFFFFF"/>
                </a:solidFill>
                <a:latin typeface="Calibri"/>
              </a:rPr>
              <a:t>Il le fait.</a:t>
            </a:r>
          </a:p>
        </p:txBody>
      </p:sp>
      <p:sp>
        <p:nvSpPr>
          <p:cNvPr id="6" name="Rectangle 5"/>
          <p:cNvSpPr/>
          <p:nvPr/>
        </p:nvSpPr>
        <p:spPr>
          <a:xfrm>
            <a:off x="792000" y="3744000"/>
            <a:ext cx="10609200" cy="10800"/>
          </a:xfrm>
          <a:prstGeom prst="rect">
            <a:avLst/>
          </a:prstGeom>
          <a:solidFill>
            <a:srgbClr val="3A3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92000" y="4104000"/>
            <a:ext cx="576000" cy="28800"/>
          </a:xfrm>
          <a:prstGeom prst="rect">
            <a:avLst/>
          </a:prstGeom>
          <a:solidFill>
            <a:srgbClr val="6A63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000" y="4356000"/>
            <a:ext cx="3320400" cy="324000"/>
          </a:xfrm>
          <a:prstGeom prst="rect">
            <a:avLst/>
          </a:prstGeom>
          <a:noFill/>
        </p:spPr>
        <p:txBody>
          <a:bodyPr wrap="square" lIns="0" rIns="0" tIns="0" bIns="0">
            <a:spAutoFit/>
          </a:bodyPr>
          <a:lstStyle/>
          <a:p>
            <a:pPr algn="l">
              <a:lnSpc>
                <a:spcPct val="125000"/>
              </a:lnSpc>
              <a:spcAft>
                <a:spcPts val="0"/>
              </a:spcAft>
            </a:pPr>
            <a:r>
              <a:rPr sz="1500" b="1" i="0">
                <a:solidFill>
                  <a:srgbClr val="FFFFFF"/>
                </a:solidFill>
                <a:latin typeface="Calibri"/>
              </a:rPr>
              <a:t>Ce qui ne change pas</a:t>
            </a:r>
          </a:p>
        </p:txBody>
      </p:sp>
      <p:sp>
        <p:nvSpPr>
          <p:cNvPr id="9" name="TextBox 8"/>
          <p:cNvSpPr txBox="1"/>
          <p:nvPr/>
        </p:nvSpPr>
        <p:spPr>
          <a:xfrm>
            <a:off x="792000" y="4752000"/>
            <a:ext cx="3320400" cy="1224000"/>
          </a:xfrm>
          <a:prstGeom prst="rect">
            <a:avLst/>
          </a:prstGeom>
          <a:noFill/>
        </p:spPr>
        <p:txBody>
          <a:bodyPr wrap="square" lIns="0" rIns="0" tIns="0" bIns="0">
            <a:spAutoFit/>
          </a:bodyPr>
          <a:lstStyle/>
          <a:p>
            <a:pPr algn="l">
              <a:lnSpc>
                <a:spcPct val="150000"/>
              </a:lnSpc>
              <a:spcAft>
                <a:spcPts val="0"/>
              </a:spcAft>
            </a:pPr>
            <a:r>
              <a:rPr sz="1200" b="0" i="0">
                <a:solidFill>
                  <a:srgbClr val="E7E1D8"/>
                </a:solidFill>
                <a:latin typeface="Calibri"/>
              </a:rPr>
              <a:t>Les quatre modules de votre catalogue sont conservés à l’identique, ainsi que le certificat, le format deux jours en ligne et le livrable annoncé. Rien n’est retiré de l’offre vendue.</a:t>
            </a:r>
          </a:p>
        </p:txBody>
      </p:sp>
      <p:sp>
        <p:nvSpPr>
          <p:cNvPr id="10" name="Rectangle 9"/>
          <p:cNvSpPr/>
          <p:nvPr/>
        </p:nvSpPr>
        <p:spPr>
          <a:xfrm>
            <a:off x="4436400" y="4104000"/>
            <a:ext cx="576000" cy="28800"/>
          </a:xfrm>
          <a:prstGeom prst="rect">
            <a:avLst/>
          </a:prstGeom>
          <a:solidFill>
            <a:srgbClr val="F25C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36400" y="4356000"/>
            <a:ext cx="3320400" cy="324000"/>
          </a:xfrm>
          <a:prstGeom prst="rect">
            <a:avLst/>
          </a:prstGeom>
          <a:noFill/>
        </p:spPr>
        <p:txBody>
          <a:bodyPr wrap="square" lIns="0" rIns="0" tIns="0" bIns="0">
            <a:spAutoFit/>
          </a:bodyPr>
          <a:lstStyle/>
          <a:p>
            <a:pPr algn="l">
              <a:lnSpc>
                <a:spcPct val="125000"/>
              </a:lnSpc>
              <a:spcAft>
                <a:spcPts val="0"/>
              </a:spcAft>
            </a:pPr>
            <a:r>
              <a:rPr sz="1500" b="1" i="0">
                <a:solidFill>
                  <a:srgbClr val="FF7A2E"/>
                </a:solidFill>
                <a:latin typeface="Calibri"/>
              </a:rPr>
              <a:t>Ce qui change</a:t>
            </a:r>
          </a:p>
        </p:txBody>
      </p:sp>
      <p:sp>
        <p:nvSpPr>
          <p:cNvPr id="12" name="TextBox 11"/>
          <p:cNvSpPr txBox="1"/>
          <p:nvPr/>
        </p:nvSpPr>
        <p:spPr>
          <a:xfrm>
            <a:off x="4436400" y="4752000"/>
            <a:ext cx="3320400" cy="1224000"/>
          </a:xfrm>
          <a:prstGeom prst="rect">
            <a:avLst/>
          </a:prstGeom>
          <a:noFill/>
        </p:spPr>
        <p:txBody>
          <a:bodyPr wrap="square" lIns="0" rIns="0" tIns="0" bIns="0">
            <a:spAutoFit/>
          </a:bodyPr>
          <a:lstStyle/>
          <a:p>
            <a:pPr algn="l">
              <a:lnSpc>
                <a:spcPct val="150000"/>
              </a:lnSpc>
              <a:spcAft>
                <a:spcPts val="0"/>
              </a:spcAft>
            </a:pPr>
            <a:r>
              <a:rPr sz="1200" b="0" i="0">
                <a:solidFill>
                  <a:srgbClr val="E7E1D8"/>
                </a:solidFill>
                <a:latin typeface="Calibri"/>
              </a:rPr>
              <a:t>Les quatre modules cessent d’être quatre cours et deviennent quatre axes de diagnostic. Un temps de relevé s’ajoute en amont, un temps de construction en aval.</a:t>
            </a:r>
          </a:p>
        </p:txBody>
      </p:sp>
      <p:sp>
        <p:nvSpPr>
          <p:cNvPr id="13" name="Rectangle 12"/>
          <p:cNvSpPr/>
          <p:nvPr/>
        </p:nvSpPr>
        <p:spPr>
          <a:xfrm>
            <a:off x="8080800" y="4104000"/>
            <a:ext cx="576000" cy="28800"/>
          </a:xfrm>
          <a:prstGeom prst="rect">
            <a:avLst/>
          </a:prstGeom>
          <a:solidFill>
            <a:srgbClr val="6A63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80800" y="4356000"/>
            <a:ext cx="3320400" cy="324000"/>
          </a:xfrm>
          <a:prstGeom prst="rect">
            <a:avLst/>
          </a:prstGeom>
          <a:noFill/>
        </p:spPr>
        <p:txBody>
          <a:bodyPr wrap="square" lIns="0" rIns="0" tIns="0" bIns="0">
            <a:spAutoFit/>
          </a:bodyPr>
          <a:lstStyle/>
          <a:p>
            <a:pPr algn="l">
              <a:lnSpc>
                <a:spcPct val="125000"/>
              </a:lnSpc>
              <a:spcAft>
                <a:spcPts val="0"/>
              </a:spcAft>
            </a:pPr>
            <a:r>
              <a:rPr sz="1500" b="1" i="0">
                <a:solidFill>
                  <a:srgbClr val="FFFFFF"/>
                </a:solidFill>
                <a:latin typeface="Calibri"/>
              </a:rPr>
              <a:t>Ce que ça produit</a:t>
            </a:r>
          </a:p>
        </p:txBody>
      </p:sp>
      <p:sp>
        <p:nvSpPr>
          <p:cNvPr id="15" name="TextBox 14"/>
          <p:cNvSpPr txBox="1"/>
          <p:nvPr/>
        </p:nvSpPr>
        <p:spPr>
          <a:xfrm>
            <a:off x="8080800" y="4752000"/>
            <a:ext cx="3320400" cy="1224000"/>
          </a:xfrm>
          <a:prstGeom prst="rect">
            <a:avLst/>
          </a:prstGeom>
          <a:noFill/>
        </p:spPr>
        <p:txBody>
          <a:bodyPr wrap="square" lIns="0" rIns="0" tIns="0" bIns="0">
            <a:spAutoFit/>
          </a:bodyPr>
          <a:lstStyle/>
          <a:p>
            <a:pPr algn="l">
              <a:lnSpc>
                <a:spcPct val="150000"/>
              </a:lnSpc>
              <a:spcAft>
                <a:spcPts val="0"/>
              </a:spcAft>
            </a:pPr>
            <a:r>
              <a:rPr sz="1200" b="0" i="0">
                <a:solidFill>
                  <a:srgbClr val="E7E1D8"/>
                </a:solidFill>
                <a:latin typeface="Calibri"/>
              </a:rPr>
              <a:t>Chaque objectif devient mesurable, parce que l’outil produit la preuve que l’objectif est atteint. C’est exactement ce que votre gabarit exige sous le nom de critère de réussite.</a:t>
            </a:r>
          </a:p>
        </p:txBody>
      </p:sp>
      <p:sp>
        <p:nvSpPr>
          <p:cNvPr id="16" name="TextBox 15"/>
          <p:cNvSpPr txBox="1"/>
          <p:nvPr/>
        </p:nvSpPr>
        <p:spPr>
          <a:xfrm>
            <a:off x="792000" y="6372000"/>
            <a:ext cx="9889200" cy="216000"/>
          </a:xfrm>
          <a:prstGeom prst="rect">
            <a:avLst/>
          </a:prstGeom>
          <a:noFill/>
        </p:spPr>
        <p:txBody>
          <a:bodyPr wrap="square" lIns="0" rIns="0" tIns="0" bIns="0">
            <a:spAutoFit/>
          </a:bodyPr>
          <a:lstStyle/>
          <a:p>
            <a:pPr algn="l">
              <a:lnSpc>
                <a:spcPct val="125000"/>
              </a:lnSpc>
              <a:spcAft>
                <a:spcPts val="0"/>
              </a:spcAft>
            </a:pPr>
            <a:r>
              <a:rPr sz="800" b="0" i="0">
                <a:solidFill>
                  <a:srgbClr val="6A635B"/>
                </a:solidFill>
                <a:latin typeface="Calibri"/>
              </a:rPr>
              <a:t>Mr Attractor  ·  proposition d’approche  ·  Sprint IA Tourisme et Loisirs</a:t>
            </a:r>
          </a:p>
        </p:txBody>
      </p:sp>
      <p:sp>
        <p:nvSpPr>
          <p:cNvPr id="17" name="TextBox 16"/>
          <p:cNvSpPr txBox="1"/>
          <p:nvPr/>
        </p:nvSpPr>
        <p:spPr>
          <a:xfrm>
            <a:off x="10681200" y="6372000"/>
            <a:ext cx="720000" cy="216000"/>
          </a:xfrm>
          <a:prstGeom prst="rect">
            <a:avLst/>
          </a:prstGeom>
          <a:noFill/>
        </p:spPr>
        <p:txBody>
          <a:bodyPr wrap="square" lIns="0" rIns="0" tIns="0" bIns="0">
            <a:spAutoFit/>
          </a:bodyPr>
          <a:lstStyle/>
          <a:p>
            <a:pPr algn="r">
              <a:lnSpc>
                <a:spcPct val="125000"/>
              </a:lnSpc>
              <a:spcAft>
                <a:spcPts val="0"/>
              </a:spcAft>
            </a:pPr>
            <a:r>
              <a:rPr sz="800" b="0" i="0">
                <a:solidFill>
                  <a:srgbClr val="6A635B"/>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FA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92000" y="540000"/>
            <a:ext cx="10609200" cy="288000"/>
          </a:xfrm>
          <a:prstGeom prst="rect">
            <a:avLst/>
          </a:prstGeom>
          <a:noFill/>
        </p:spPr>
        <p:txBody>
          <a:bodyPr wrap="square" lIns="0" rIns="0" tIns="0" bIns="0">
            <a:spAutoFit/>
          </a:bodyPr>
          <a:lstStyle/>
          <a:p>
            <a:pPr algn="l">
              <a:lnSpc>
                <a:spcPct val="125000"/>
              </a:lnSpc>
              <a:spcAft>
                <a:spcPts val="0"/>
              </a:spcAft>
            </a:pPr>
            <a:r>
              <a:rPr sz="1050" b="1" i="0">
                <a:solidFill>
                  <a:srgbClr val="F25C05"/>
                </a:solidFill>
                <a:latin typeface="Calibri"/>
              </a:rPr>
              <a:t>LA MÉCANIQUE</a:t>
            </a:r>
          </a:p>
        </p:txBody>
      </p:sp>
      <p:sp>
        <p:nvSpPr>
          <p:cNvPr id="4" name="TextBox 3"/>
          <p:cNvSpPr txBox="1"/>
          <p:nvPr/>
        </p:nvSpPr>
        <p:spPr>
          <a:xfrm>
            <a:off x="792000" y="810000"/>
            <a:ext cx="10609200" cy="720000"/>
          </a:xfrm>
          <a:prstGeom prst="rect">
            <a:avLst/>
          </a:prstGeom>
          <a:noFill/>
        </p:spPr>
        <p:txBody>
          <a:bodyPr wrap="square" lIns="0" rIns="0" tIns="0" bIns="0">
            <a:spAutoFit/>
          </a:bodyPr>
          <a:lstStyle/>
          <a:p>
            <a:pPr algn="l">
              <a:lnSpc>
                <a:spcPct val="110000"/>
              </a:lnSpc>
              <a:spcAft>
                <a:spcPts val="0"/>
              </a:spcAft>
            </a:pPr>
            <a:r>
              <a:rPr sz="2600" b="1" i="0">
                <a:solidFill>
                  <a:srgbClr val="1A1714"/>
                </a:solidFill>
                <a:latin typeface="Calibri"/>
              </a:rPr>
              <a:t>Quatre temps, dont deux hors séance</a:t>
            </a:r>
          </a:p>
        </p:txBody>
      </p:sp>
      <p:sp>
        <p:nvSpPr>
          <p:cNvPr id="5" name="Rectangle 4"/>
          <p:cNvSpPr/>
          <p:nvPr/>
        </p:nvSpPr>
        <p:spPr>
          <a:xfrm>
            <a:off x="792000" y="1278000"/>
            <a:ext cx="1224000" cy="36000"/>
          </a:xfrm>
          <a:prstGeom prst="rect">
            <a:avLst/>
          </a:prstGeom>
          <a:solidFill>
            <a:srgbClr val="F25C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92000" y="1800000"/>
            <a:ext cx="2517300" cy="3744000"/>
          </a:xfrm>
          <a:prstGeom prst="roundRect">
            <a:avLst>
              <a:gd name="adj" fmla="val 4000"/>
            </a:avLst>
          </a:prstGeom>
          <a:solidFill>
            <a:srgbClr val="FFFFFF"/>
          </a:solidFill>
          <a:ln w="9525">
            <a:solidFill>
              <a:srgbClr val="E7E1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92000" y="1800000"/>
            <a:ext cx="2517300" cy="36000"/>
          </a:xfrm>
          <a:prstGeom prst="rect">
            <a:avLst/>
          </a:prstGeom>
          <a:solidFill>
            <a:srgbClr val="F25C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43999" y="2052000"/>
            <a:ext cx="396000" cy="396000"/>
          </a:xfrm>
          <a:prstGeom prst="ellipse">
            <a:avLst/>
          </a:prstGeom>
          <a:solidFill>
            <a:srgbClr val="F25C0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FFFFFF"/>
                </a:solidFill>
                <a:latin typeface="Calibri"/>
              </a:rPr>
              <a:t>1</a:t>
            </a:r>
          </a:p>
        </p:txBody>
      </p:sp>
      <p:sp>
        <p:nvSpPr>
          <p:cNvPr id="9" name="TextBox 8"/>
          <p:cNvSpPr txBox="1"/>
          <p:nvPr/>
        </p:nvSpPr>
        <p:spPr>
          <a:xfrm>
            <a:off x="1043999" y="2592000"/>
            <a:ext cx="2013301" cy="216000"/>
          </a:xfrm>
          <a:prstGeom prst="rect">
            <a:avLst/>
          </a:prstGeom>
          <a:noFill/>
        </p:spPr>
        <p:txBody>
          <a:bodyPr wrap="square" lIns="0" rIns="0" tIns="0" bIns="0">
            <a:spAutoFit/>
          </a:bodyPr>
          <a:lstStyle/>
          <a:p>
            <a:pPr algn="l">
              <a:lnSpc>
                <a:spcPct val="125000"/>
              </a:lnSpc>
              <a:spcAft>
                <a:spcPts val="0"/>
              </a:spcAft>
            </a:pPr>
            <a:r>
              <a:rPr sz="850" b="1" i="0">
                <a:solidFill>
                  <a:srgbClr val="6A635B"/>
                </a:solidFill>
                <a:latin typeface="Calibri"/>
              </a:rPr>
              <a:t>AVANT LA SÉANCE</a:t>
            </a:r>
          </a:p>
        </p:txBody>
      </p:sp>
      <p:sp>
        <p:nvSpPr>
          <p:cNvPr id="10" name="TextBox 9"/>
          <p:cNvSpPr txBox="1"/>
          <p:nvPr/>
        </p:nvSpPr>
        <p:spPr>
          <a:xfrm>
            <a:off x="1043999" y="2844000"/>
            <a:ext cx="2013301" cy="503999"/>
          </a:xfrm>
          <a:prstGeom prst="rect">
            <a:avLst/>
          </a:prstGeom>
          <a:noFill/>
        </p:spPr>
        <p:txBody>
          <a:bodyPr wrap="square" lIns="0" rIns="0" tIns="0" bIns="0">
            <a:spAutoFit/>
          </a:bodyPr>
          <a:lstStyle/>
          <a:p>
            <a:pPr algn="l">
              <a:lnSpc>
                <a:spcPct val="115000"/>
              </a:lnSpc>
              <a:spcAft>
                <a:spcPts val="0"/>
              </a:spcAft>
            </a:pPr>
            <a:r>
              <a:rPr sz="1500" b="1" i="0">
                <a:solidFill>
                  <a:srgbClr val="1A1714"/>
                </a:solidFill>
                <a:latin typeface="Calibri"/>
              </a:rPr>
              <a:t>Le relevé</a:t>
            </a:r>
          </a:p>
        </p:txBody>
      </p:sp>
      <p:sp>
        <p:nvSpPr>
          <p:cNvPr id="11" name="TextBox 10"/>
          <p:cNvSpPr txBox="1"/>
          <p:nvPr/>
        </p:nvSpPr>
        <p:spPr>
          <a:xfrm>
            <a:off x="1043999" y="3420000"/>
            <a:ext cx="2013301" cy="1944000"/>
          </a:xfrm>
          <a:prstGeom prst="rect">
            <a:avLst/>
          </a:prstGeom>
          <a:noFill/>
        </p:spPr>
        <p:txBody>
          <a:bodyPr wrap="square" lIns="0" rIns="0" tIns="0" bIns="0">
            <a:spAutoFit/>
          </a:bodyPr>
          <a:lstStyle/>
          <a:p>
            <a:pPr algn="l">
              <a:lnSpc>
                <a:spcPct val="145000"/>
              </a:lnSpc>
              <a:spcAft>
                <a:spcPts val="0"/>
              </a:spcAft>
            </a:pPr>
            <a:r>
              <a:rPr sz="1100" b="0" i="0">
                <a:solidFill>
                  <a:srgbClr val="2A2521"/>
                </a:solidFill>
                <a:latin typeface="Calibri"/>
              </a:rPr>
              <a:t>Un lien personnel est envoyé au participant dès son inscription. Il y saisit ses douze derniers mois : occupation, prix pratiqués, canaux de vente, outils en place. Seul, ou avec son équipe pour les structures qui inscrivent plusieurs personnes.</a:t>
            </a:r>
          </a:p>
        </p:txBody>
      </p:sp>
      <p:sp>
        <p:nvSpPr>
          <p:cNvPr id="12" name="Rounded Rectangle 11"/>
          <p:cNvSpPr/>
          <p:nvPr/>
        </p:nvSpPr>
        <p:spPr>
          <a:xfrm>
            <a:off x="3489300" y="1800000"/>
            <a:ext cx="2517300" cy="3744000"/>
          </a:xfrm>
          <a:prstGeom prst="roundRect">
            <a:avLst>
              <a:gd name="adj" fmla="val 4000"/>
            </a:avLst>
          </a:prstGeom>
          <a:solidFill>
            <a:srgbClr val="FFFFFF"/>
          </a:solidFill>
          <a:ln w="9525">
            <a:solidFill>
              <a:srgbClr val="E7E1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489300" y="1800000"/>
            <a:ext cx="2517300" cy="36000"/>
          </a:xfrm>
          <a:prstGeom prst="rect">
            <a:avLst/>
          </a:prstGeom>
          <a:solidFill>
            <a:srgbClr val="1E5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741299" y="2052000"/>
            <a:ext cx="396000" cy="396000"/>
          </a:xfrm>
          <a:prstGeom prst="ellipse">
            <a:avLst/>
          </a:prstGeom>
          <a:solidFill>
            <a:srgbClr val="1E5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FFFFFF"/>
                </a:solidFill>
                <a:latin typeface="Calibri"/>
              </a:rPr>
              <a:t>2</a:t>
            </a:r>
          </a:p>
        </p:txBody>
      </p:sp>
      <p:sp>
        <p:nvSpPr>
          <p:cNvPr id="15" name="TextBox 14"/>
          <p:cNvSpPr txBox="1"/>
          <p:nvPr/>
        </p:nvSpPr>
        <p:spPr>
          <a:xfrm>
            <a:off x="3741299" y="2592000"/>
            <a:ext cx="2013301" cy="216000"/>
          </a:xfrm>
          <a:prstGeom prst="rect">
            <a:avLst/>
          </a:prstGeom>
          <a:noFill/>
        </p:spPr>
        <p:txBody>
          <a:bodyPr wrap="square" lIns="0" rIns="0" tIns="0" bIns="0">
            <a:spAutoFit/>
          </a:bodyPr>
          <a:lstStyle/>
          <a:p>
            <a:pPr algn="l">
              <a:lnSpc>
                <a:spcPct val="125000"/>
              </a:lnSpc>
              <a:spcAft>
                <a:spcPts val="0"/>
              </a:spcAft>
            </a:pPr>
            <a:r>
              <a:rPr sz="850" b="1" i="0">
                <a:solidFill>
                  <a:srgbClr val="6A635B"/>
                </a:solidFill>
                <a:latin typeface="Calibri"/>
              </a:rPr>
              <a:t>OUVERTURE</a:t>
            </a:r>
          </a:p>
        </p:txBody>
      </p:sp>
      <p:sp>
        <p:nvSpPr>
          <p:cNvPr id="16" name="TextBox 15"/>
          <p:cNvSpPr txBox="1"/>
          <p:nvPr/>
        </p:nvSpPr>
        <p:spPr>
          <a:xfrm>
            <a:off x="3741299" y="2844000"/>
            <a:ext cx="2013301" cy="503999"/>
          </a:xfrm>
          <a:prstGeom prst="rect">
            <a:avLst/>
          </a:prstGeom>
          <a:noFill/>
        </p:spPr>
        <p:txBody>
          <a:bodyPr wrap="square" lIns="0" rIns="0" tIns="0" bIns="0">
            <a:spAutoFit/>
          </a:bodyPr>
          <a:lstStyle/>
          <a:p>
            <a:pPr algn="l">
              <a:lnSpc>
                <a:spcPct val="115000"/>
              </a:lnSpc>
              <a:spcAft>
                <a:spcPts val="0"/>
              </a:spcAft>
            </a:pPr>
            <a:r>
              <a:rPr sz="1500" b="1" i="0">
                <a:solidFill>
                  <a:srgbClr val="1A1714"/>
                </a:solidFill>
                <a:latin typeface="Calibri"/>
              </a:rPr>
              <a:t>Le diagnostic</a:t>
            </a:r>
          </a:p>
        </p:txBody>
      </p:sp>
      <p:sp>
        <p:nvSpPr>
          <p:cNvPr id="17" name="TextBox 16"/>
          <p:cNvSpPr txBox="1"/>
          <p:nvPr/>
        </p:nvSpPr>
        <p:spPr>
          <a:xfrm>
            <a:off x="3741299" y="3420000"/>
            <a:ext cx="2013301" cy="1944000"/>
          </a:xfrm>
          <a:prstGeom prst="rect">
            <a:avLst/>
          </a:prstGeom>
          <a:noFill/>
        </p:spPr>
        <p:txBody>
          <a:bodyPr wrap="square" lIns="0" rIns="0" tIns="0" bIns="0">
            <a:spAutoFit/>
          </a:bodyPr>
          <a:lstStyle/>
          <a:p>
            <a:pPr algn="l">
              <a:lnSpc>
                <a:spcPct val="145000"/>
              </a:lnSpc>
              <a:spcAft>
                <a:spcPts val="0"/>
              </a:spcAft>
            </a:pPr>
            <a:r>
              <a:rPr sz="1100" b="0" i="0">
                <a:solidFill>
                  <a:srgbClr val="2A2521"/>
                </a:solidFill>
                <a:latin typeface="Calibri"/>
              </a:rPr>
              <a:t>L’outil calcule son profil de maturité sur les quatre axes du catalogue, et ses indicateurs de performance à partir de ses propres chiffres. Il découvre où il se situe avant qu’on lui ait enseigné quoi que ce soit.</a:t>
            </a:r>
          </a:p>
        </p:txBody>
      </p:sp>
      <p:sp>
        <p:nvSpPr>
          <p:cNvPr id="18" name="Rounded Rectangle 17"/>
          <p:cNvSpPr/>
          <p:nvPr/>
        </p:nvSpPr>
        <p:spPr>
          <a:xfrm>
            <a:off x="6186600" y="1800000"/>
            <a:ext cx="2517300" cy="3744000"/>
          </a:xfrm>
          <a:prstGeom prst="roundRect">
            <a:avLst>
              <a:gd name="adj" fmla="val 4000"/>
            </a:avLst>
          </a:prstGeom>
          <a:solidFill>
            <a:srgbClr val="FFFFFF"/>
          </a:solidFill>
          <a:ln w="9525">
            <a:solidFill>
              <a:srgbClr val="E7E1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86600" y="1800000"/>
            <a:ext cx="2517300" cy="36000"/>
          </a:xfrm>
          <a:prstGeom prst="rect">
            <a:avLst/>
          </a:prstGeom>
          <a:solidFill>
            <a:srgbClr val="1E5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38599" y="2052000"/>
            <a:ext cx="396000" cy="396000"/>
          </a:xfrm>
          <a:prstGeom prst="ellipse">
            <a:avLst/>
          </a:prstGeom>
          <a:solidFill>
            <a:srgbClr val="1E5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FFFFFF"/>
                </a:solidFill>
                <a:latin typeface="Calibri"/>
              </a:rPr>
              <a:t>3</a:t>
            </a:r>
          </a:p>
        </p:txBody>
      </p:sp>
      <p:sp>
        <p:nvSpPr>
          <p:cNvPr id="21" name="TextBox 20"/>
          <p:cNvSpPr txBox="1"/>
          <p:nvPr/>
        </p:nvSpPr>
        <p:spPr>
          <a:xfrm>
            <a:off x="6438599" y="2592000"/>
            <a:ext cx="2013301" cy="216000"/>
          </a:xfrm>
          <a:prstGeom prst="rect">
            <a:avLst/>
          </a:prstGeom>
          <a:noFill/>
        </p:spPr>
        <p:txBody>
          <a:bodyPr wrap="square" lIns="0" rIns="0" tIns="0" bIns="0">
            <a:spAutoFit/>
          </a:bodyPr>
          <a:lstStyle/>
          <a:p>
            <a:pPr algn="l">
              <a:lnSpc>
                <a:spcPct val="125000"/>
              </a:lnSpc>
              <a:spcAft>
                <a:spcPts val="0"/>
              </a:spcAft>
            </a:pPr>
            <a:r>
              <a:rPr sz="850" b="1" i="0">
                <a:solidFill>
                  <a:srgbClr val="6A635B"/>
                </a:solidFill>
                <a:latin typeface="Calibri"/>
              </a:rPr>
              <a:t>PENDANT LES DEUX JOURS</a:t>
            </a:r>
          </a:p>
        </p:txBody>
      </p:sp>
      <p:sp>
        <p:nvSpPr>
          <p:cNvPr id="22" name="TextBox 21"/>
          <p:cNvSpPr txBox="1"/>
          <p:nvPr/>
        </p:nvSpPr>
        <p:spPr>
          <a:xfrm>
            <a:off x="6438599" y="2844000"/>
            <a:ext cx="2013301" cy="503999"/>
          </a:xfrm>
          <a:prstGeom prst="rect">
            <a:avLst/>
          </a:prstGeom>
          <a:noFill/>
        </p:spPr>
        <p:txBody>
          <a:bodyPr wrap="square" lIns="0" rIns="0" tIns="0" bIns="0">
            <a:spAutoFit/>
          </a:bodyPr>
          <a:lstStyle/>
          <a:p>
            <a:pPr algn="l">
              <a:lnSpc>
                <a:spcPct val="115000"/>
              </a:lnSpc>
              <a:spcAft>
                <a:spcPts val="0"/>
              </a:spcAft>
            </a:pPr>
            <a:r>
              <a:rPr sz="1500" b="1" i="0">
                <a:solidFill>
                  <a:srgbClr val="1A1714"/>
                </a:solidFill>
                <a:latin typeface="Calibri"/>
              </a:rPr>
              <a:t>La théorie au service du chiffre</a:t>
            </a:r>
          </a:p>
        </p:txBody>
      </p:sp>
      <p:sp>
        <p:nvSpPr>
          <p:cNvPr id="23" name="TextBox 22"/>
          <p:cNvSpPr txBox="1"/>
          <p:nvPr/>
        </p:nvSpPr>
        <p:spPr>
          <a:xfrm>
            <a:off x="6438599" y="3420000"/>
            <a:ext cx="2013301" cy="1944000"/>
          </a:xfrm>
          <a:prstGeom prst="rect">
            <a:avLst/>
          </a:prstGeom>
          <a:noFill/>
        </p:spPr>
        <p:txBody>
          <a:bodyPr wrap="square" lIns="0" rIns="0" tIns="0" bIns="0">
            <a:spAutoFit/>
          </a:bodyPr>
          <a:lstStyle/>
          <a:p>
            <a:pPr algn="l">
              <a:lnSpc>
                <a:spcPct val="145000"/>
              </a:lnSpc>
              <a:spcAft>
                <a:spcPts val="0"/>
              </a:spcAft>
            </a:pPr>
            <a:r>
              <a:rPr sz="1100" b="0" i="0">
                <a:solidFill>
                  <a:srgbClr val="2A2521"/>
                </a:solidFill>
                <a:latin typeface="Calibri"/>
              </a:rPr>
              <a:t>Chaque module s’ouvre sur les chiffres du groupe, pas sur un cas générique. La théorie explique pourquoi le chiffre est là, puis par quel mécanisme l’IA le déplace. Le participant simule, et voit l’effet.</a:t>
            </a:r>
          </a:p>
        </p:txBody>
      </p:sp>
      <p:sp>
        <p:nvSpPr>
          <p:cNvPr id="24" name="Rounded Rectangle 23"/>
          <p:cNvSpPr/>
          <p:nvPr/>
        </p:nvSpPr>
        <p:spPr>
          <a:xfrm>
            <a:off x="8883900" y="1800000"/>
            <a:ext cx="2517300" cy="3744000"/>
          </a:xfrm>
          <a:prstGeom prst="roundRect">
            <a:avLst>
              <a:gd name="adj" fmla="val 4000"/>
            </a:avLst>
          </a:prstGeom>
          <a:solidFill>
            <a:srgbClr val="FFFFFF"/>
          </a:solidFill>
          <a:ln w="9525">
            <a:solidFill>
              <a:srgbClr val="E7E1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883900" y="1800000"/>
            <a:ext cx="2517300" cy="36000"/>
          </a:xfrm>
          <a:prstGeom prst="rect">
            <a:avLst/>
          </a:prstGeom>
          <a:solidFill>
            <a:srgbClr val="F25C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35899" y="2052000"/>
            <a:ext cx="396000" cy="396000"/>
          </a:xfrm>
          <a:prstGeom prst="ellipse">
            <a:avLst/>
          </a:prstGeom>
          <a:solidFill>
            <a:srgbClr val="F25C0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FFFFFF"/>
                </a:solidFill>
                <a:latin typeface="Calibri"/>
              </a:rPr>
              <a:t>4</a:t>
            </a:r>
          </a:p>
        </p:txBody>
      </p:sp>
      <p:sp>
        <p:nvSpPr>
          <p:cNvPr id="27" name="TextBox 26"/>
          <p:cNvSpPr txBox="1"/>
          <p:nvPr/>
        </p:nvSpPr>
        <p:spPr>
          <a:xfrm>
            <a:off x="9135899" y="2592000"/>
            <a:ext cx="2013301" cy="216000"/>
          </a:xfrm>
          <a:prstGeom prst="rect">
            <a:avLst/>
          </a:prstGeom>
          <a:noFill/>
        </p:spPr>
        <p:txBody>
          <a:bodyPr wrap="square" lIns="0" rIns="0" tIns="0" bIns="0">
            <a:spAutoFit/>
          </a:bodyPr>
          <a:lstStyle/>
          <a:p>
            <a:pPr algn="l">
              <a:lnSpc>
                <a:spcPct val="125000"/>
              </a:lnSpc>
              <a:spcAft>
                <a:spcPts val="0"/>
              </a:spcAft>
            </a:pPr>
            <a:r>
              <a:rPr sz="850" b="1" i="0">
                <a:solidFill>
                  <a:srgbClr val="6A635B"/>
                </a:solidFill>
                <a:latin typeface="Calibri"/>
              </a:rPr>
              <a:t>EN SORTIE</a:t>
            </a:r>
          </a:p>
        </p:txBody>
      </p:sp>
      <p:sp>
        <p:nvSpPr>
          <p:cNvPr id="28" name="TextBox 27"/>
          <p:cNvSpPr txBox="1"/>
          <p:nvPr/>
        </p:nvSpPr>
        <p:spPr>
          <a:xfrm>
            <a:off x="9135899" y="2844000"/>
            <a:ext cx="2013301" cy="503999"/>
          </a:xfrm>
          <a:prstGeom prst="rect">
            <a:avLst/>
          </a:prstGeom>
          <a:noFill/>
        </p:spPr>
        <p:txBody>
          <a:bodyPr wrap="square" lIns="0" rIns="0" tIns="0" bIns="0">
            <a:spAutoFit/>
          </a:bodyPr>
          <a:lstStyle/>
          <a:p>
            <a:pPr algn="l">
              <a:lnSpc>
                <a:spcPct val="115000"/>
              </a:lnSpc>
              <a:spcAft>
                <a:spcPts val="0"/>
              </a:spcAft>
            </a:pPr>
            <a:r>
              <a:rPr sz="1500" b="1" i="0">
                <a:solidFill>
                  <a:srgbClr val="1A1714"/>
                </a:solidFill>
                <a:latin typeface="Calibri"/>
              </a:rPr>
              <a:t>La feuille de route</a:t>
            </a:r>
          </a:p>
        </p:txBody>
      </p:sp>
      <p:sp>
        <p:nvSpPr>
          <p:cNvPr id="29" name="TextBox 28"/>
          <p:cNvSpPr txBox="1"/>
          <p:nvPr/>
        </p:nvSpPr>
        <p:spPr>
          <a:xfrm>
            <a:off x="9135899" y="3420000"/>
            <a:ext cx="2013301" cy="1944000"/>
          </a:xfrm>
          <a:prstGeom prst="rect">
            <a:avLst/>
          </a:prstGeom>
          <a:noFill/>
        </p:spPr>
        <p:txBody>
          <a:bodyPr wrap="square" lIns="0" rIns="0" tIns="0" bIns="0">
            <a:spAutoFit/>
          </a:bodyPr>
          <a:lstStyle/>
          <a:p>
            <a:pPr algn="l">
              <a:lnSpc>
                <a:spcPct val="145000"/>
              </a:lnSpc>
              <a:spcAft>
                <a:spcPts val="0"/>
              </a:spcAft>
            </a:pPr>
            <a:r>
              <a:rPr sz="1100" b="0" i="0">
                <a:solidFill>
                  <a:srgbClr val="2A2521"/>
                </a:solidFill>
                <a:latin typeface="Calibri"/>
              </a:rPr>
              <a:t>Le Plan d’Action IA est généré depuis ses données et ses arbitrages des deux jours, sur trois horizons. Chaque action porte son indicateur et le seuil à partir duquel il corrige. Exportable en fin de séance.</a:t>
            </a:r>
          </a:p>
        </p:txBody>
      </p:sp>
      <p:sp>
        <p:nvSpPr>
          <p:cNvPr id="30" name="TextBox 29"/>
          <p:cNvSpPr txBox="1"/>
          <p:nvPr/>
        </p:nvSpPr>
        <p:spPr>
          <a:xfrm>
            <a:off x="792000" y="5760000"/>
            <a:ext cx="10609200" cy="360000"/>
          </a:xfrm>
          <a:prstGeom prst="rect">
            <a:avLst/>
          </a:prstGeom>
          <a:noFill/>
        </p:spPr>
        <p:txBody>
          <a:bodyPr wrap="square" lIns="0" rIns="0" tIns="0" bIns="0">
            <a:spAutoFit/>
          </a:bodyPr>
          <a:lstStyle/>
          <a:p>
            <a:pPr algn="l">
              <a:lnSpc>
                <a:spcPct val="125000"/>
              </a:lnSpc>
              <a:spcAft>
                <a:spcPts val="0"/>
              </a:spcAft>
            </a:pPr>
            <a:r>
              <a:rPr sz="1300" b="0" i="1">
                <a:solidFill>
                  <a:srgbClr val="6A635B"/>
                </a:solidFill>
                <a:latin typeface="Calibri"/>
              </a:rPr>
              <a:t>Les temps 1 et 4 sont ceux qui manquent aujourd’hui. Ce sont eux qui transforment deux jours de contenu en deux jours de travail.</a:t>
            </a:r>
          </a:p>
        </p:txBody>
      </p:sp>
      <p:sp>
        <p:nvSpPr>
          <p:cNvPr id="31" name="TextBox 30"/>
          <p:cNvSpPr txBox="1"/>
          <p:nvPr/>
        </p:nvSpPr>
        <p:spPr>
          <a:xfrm>
            <a:off x="792000" y="6372000"/>
            <a:ext cx="9889200" cy="216000"/>
          </a:xfrm>
          <a:prstGeom prst="rect">
            <a:avLst/>
          </a:prstGeom>
          <a:noFill/>
        </p:spPr>
        <p:txBody>
          <a:bodyPr wrap="square" lIns="0" rIns="0" tIns="0" bIns="0">
            <a:spAutoFit/>
          </a:bodyPr>
          <a:lstStyle/>
          <a:p>
            <a:pPr algn="l">
              <a:lnSpc>
                <a:spcPct val="125000"/>
              </a:lnSpc>
              <a:spcAft>
                <a:spcPts val="0"/>
              </a:spcAft>
            </a:pPr>
            <a:r>
              <a:rPr sz="800" b="0" i="0">
                <a:solidFill>
                  <a:srgbClr val="6A635B"/>
                </a:solidFill>
                <a:latin typeface="Calibri"/>
              </a:rPr>
              <a:t>Mr Attractor  ·  proposition d’approche  ·  Sprint IA Tourisme et Loisirs</a:t>
            </a:r>
          </a:p>
        </p:txBody>
      </p:sp>
      <p:sp>
        <p:nvSpPr>
          <p:cNvPr id="32" name="TextBox 31"/>
          <p:cNvSpPr txBox="1"/>
          <p:nvPr/>
        </p:nvSpPr>
        <p:spPr>
          <a:xfrm>
            <a:off x="10681200" y="6372000"/>
            <a:ext cx="720000" cy="216000"/>
          </a:xfrm>
          <a:prstGeom prst="rect">
            <a:avLst/>
          </a:prstGeom>
          <a:noFill/>
        </p:spPr>
        <p:txBody>
          <a:bodyPr wrap="square" lIns="0" rIns="0" tIns="0" bIns="0">
            <a:spAutoFit/>
          </a:bodyPr>
          <a:lstStyle/>
          <a:p>
            <a:pPr algn="r">
              <a:lnSpc>
                <a:spcPct val="125000"/>
              </a:lnSpc>
              <a:spcAft>
                <a:spcPts val="0"/>
              </a:spcAft>
            </a:pPr>
            <a:r>
              <a:rPr sz="800" b="0" i="0">
                <a:solidFill>
                  <a:srgbClr val="6A635B"/>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FA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92000" y="540000"/>
            <a:ext cx="10609200" cy="288000"/>
          </a:xfrm>
          <a:prstGeom prst="rect">
            <a:avLst/>
          </a:prstGeom>
          <a:noFill/>
        </p:spPr>
        <p:txBody>
          <a:bodyPr wrap="square" lIns="0" rIns="0" tIns="0" bIns="0">
            <a:spAutoFit/>
          </a:bodyPr>
          <a:lstStyle/>
          <a:p>
            <a:pPr algn="l">
              <a:lnSpc>
                <a:spcPct val="125000"/>
              </a:lnSpc>
              <a:spcAft>
                <a:spcPts val="0"/>
              </a:spcAft>
            </a:pPr>
            <a:r>
              <a:rPr sz="1050" b="1" i="0">
                <a:solidFill>
                  <a:srgbClr val="F25C05"/>
                </a:solidFill>
                <a:latin typeface="Calibri"/>
              </a:rPr>
              <a:t>LE MOMENT QUI VEND LE SPRINT</a:t>
            </a:r>
          </a:p>
        </p:txBody>
      </p:sp>
      <p:sp>
        <p:nvSpPr>
          <p:cNvPr id="4" name="TextBox 3"/>
          <p:cNvSpPr txBox="1"/>
          <p:nvPr/>
        </p:nvSpPr>
        <p:spPr>
          <a:xfrm>
            <a:off x="792000" y="810000"/>
            <a:ext cx="10609200" cy="720000"/>
          </a:xfrm>
          <a:prstGeom prst="rect">
            <a:avLst/>
          </a:prstGeom>
          <a:noFill/>
        </p:spPr>
        <p:txBody>
          <a:bodyPr wrap="square" lIns="0" rIns="0" tIns="0" bIns="0">
            <a:spAutoFit/>
          </a:bodyPr>
          <a:lstStyle/>
          <a:p>
            <a:pPr algn="l">
              <a:lnSpc>
                <a:spcPct val="110000"/>
              </a:lnSpc>
              <a:spcAft>
                <a:spcPts val="0"/>
              </a:spcAft>
            </a:pPr>
            <a:r>
              <a:rPr sz="2600" b="1" i="0">
                <a:solidFill>
                  <a:srgbClr val="1A1714"/>
                </a:solidFill>
                <a:latin typeface="Calibri"/>
              </a:rPr>
              <a:t>Un chiffre que l’opérateur n’a jamais vu</a:t>
            </a:r>
          </a:p>
        </p:txBody>
      </p:sp>
      <p:sp>
        <p:nvSpPr>
          <p:cNvPr id="5" name="Rectangle 4"/>
          <p:cNvSpPr/>
          <p:nvPr/>
        </p:nvSpPr>
        <p:spPr>
          <a:xfrm>
            <a:off x="792000" y="1278000"/>
            <a:ext cx="1224000" cy="36000"/>
          </a:xfrm>
          <a:prstGeom prst="rect">
            <a:avLst/>
          </a:prstGeom>
          <a:solidFill>
            <a:srgbClr val="F25C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92000" y="1764000"/>
            <a:ext cx="5580000" cy="2484000"/>
          </a:xfrm>
          <a:prstGeom prst="roundRect">
            <a:avLst>
              <a:gd name="adj" fmla="val 4000"/>
            </a:avLst>
          </a:prstGeom>
          <a:solidFill>
            <a:srgbClr val="1A1714"/>
          </a:solidFill>
          <a:ln w="9525">
            <a:solidFill>
              <a:srgbClr val="1A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52000" y="1980000"/>
            <a:ext cx="4860000" cy="195453"/>
          </a:xfrm>
          <a:prstGeom prst="rect">
            <a:avLst/>
          </a:prstGeom>
          <a:noFill/>
        </p:spPr>
        <p:txBody>
          <a:bodyPr wrap="square" lIns="0" rIns="0" tIns="0" bIns="0">
            <a:spAutoFit/>
          </a:bodyPr>
          <a:lstStyle/>
          <a:p>
            <a:pPr algn="l">
              <a:lnSpc>
                <a:spcPct val="125000"/>
              </a:lnSpc>
              <a:spcAft>
                <a:spcPts val="0"/>
              </a:spcAft>
            </a:pPr>
            <a:r>
              <a:rPr sz="950" b="1" i="0">
                <a:solidFill>
                  <a:srgbClr val="FF7A2E"/>
                </a:solidFill>
                <a:latin typeface="Calibri"/>
              </a:rPr>
              <a:t>CALCULÉ DEVANT LUI, DEPUIS SES PROPRES DONNÉES</a:t>
            </a:r>
          </a:p>
        </p:txBody>
      </p:sp>
      <p:sp>
        <p:nvSpPr>
          <p:cNvPr id="8" name="TextBox 7"/>
          <p:cNvSpPr txBox="1"/>
          <p:nvPr/>
        </p:nvSpPr>
        <p:spPr>
          <a:xfrm>
            <a:off x="1152000" y="2355453"/>
            <a:ext cx="4860000" cy="1357884"/>
          </a:xfrm>
          <a:prstGeom prst="rect">
            <a:avLst/>
          </a:prstGeom>
          <a:noFill/>
        </p:spPr>
        <p:txBody>
          <a:bodyPr wrap="square" lIns="0" rIns="0" tIns="0" bIns="0">
            <a:spAutoFit/>
          </a:bodyPr>
          <a:lstStyle/>
          <a:p>
            <a:pPr algn="l">
              <a:lnSpc>
                <a:spcPct val="125000"/>
              </a:lnSpc>
              <a:spcAft>
                <a:spcPts val="0"/>
              </a:spcAft>
            </a:pPr>
            <a:r>
              <a:rPr sz="2200" b="1" i="0">
                <a:solidFill>
                  <a:srgbClr val="FFFFFF"/>
                </a:solidFill>
                <a:latin typeface="Calibri"/>
              </a:rPr>
              <a:t>Le montant qu’il verse</a:t>
            </a:r>
          </a:p>
          <a:p>
            <a:pPr algn="l">
              <a:lnSpc>
                <a:spcPct val="125000"/>
              </a:lnSpc>
              <a:spcAft>
                <a:spcPts val="0"/>
              </a:spcAft>
            </a:pPr>
            <a:r>
              <a:rPr sz="2200" b="1" i="0">
                <a:solidFill>
                  <a:srgbClr val="FFFFFF"/>
                </a:solidFill>
                <a:latin typeface="Calibri"/>
              </a:rPr>
              <a:t>chaque année aux plateformes</a:t>
            </a:r>
          </a:p>
          <a:p>
            <a:pPr algn="l">
              <a:lnSpc>
                <a:spcPct val="125000"/>
              </a:lnSpc>
              <a:spcAft>
                <a:spcPts val="0"/>
              </a:spcAft>
            </a:pPr>
            <a:r>
              <a:rPr sz="2200" b="1" i="0">
                <a:solidFill>
                  <a:srgbClr val="FFFFFF"/>
                </a:solidFill>
                <a:latin typeface="Calibri"/>
              </a:rPr>
              <a:t>de réservation.</a:t>
            </a:r>
          </a:p>
        </p:txBody>
      </p:sp>
      <p:sp>
        <p:nvSpPr>
          <p:cNvPr id="9" name="TextBox 8"/>
          <p:cNvSpPr txBox="1"/>
          <p:nvPr/>
        </p:nvSpPr>
        <p:spPr>
          <a:xfrm>
            <a:off x="1152000" y="3911337"/>
            <a:ext cx="4860000" cy="576072"/>
          </a:xfrm>
          <a:prstGeom prst="rect">
            <a:avLst/>
          </a:prstGeom>
          <a:noFill/>
        </p:spPr>
        <p:txBody>
          <a:bodyPr wrap="square" lIns="0" rIns="0" tIns="0" bIns="0">
            <a:spAutoFit/>
          </a:bodyPr>
          <a:lstStyle/>
          <a:p>
            <a:pPr algn="l">
              <a:lnSpc>
                <a:spcPct val="140000"/>
              </a:lnSpc>
              <a:spcAft>
                <a:spcPts val="0"/>
              </a:spcAft>
            </a:pPr>
            <a:r>
              <a:rPr sz="1250" b="0" i="0">
                <a:solidFill>
                  <a:srgbClr val="E7E1D8"/>
                </a:solidFill>
                <a:latin typeface="Calibri"/>
              </a:rPr>
              <a:t>Puis le nombre de points de réservation directe qu’il lui faudrait gagner pour l’annuler.</a:t>
            </a:r>
          </a:p>
        </p:txBody>
      </p:sp>
      <p:sp>
        <p:nvSpPr>
          <p:cNvPr id="10" name="TextBox 9"/>
          <p:cNvSpPr txBox="1"/>
          <p:nvPr/>
        </p:nvSpPr>
        <p:spPr>
          <a:xfrm>
            <a:off x="6695999" y="1800000"/>
            <a:ext cx="4716000" cy="1382572"/>
          </a:xfrm>
          <a:prstGeom prst="rect">
            <a:avLst/>
          </a:prstGeom>
          <a:noFill/>
        </p:spPr>
        <p:txBody>
          <a:bodyPr wrap="square" lIns="0" rIns="0" tIns="0" bIns="0">
            <a:spAutoFit/>
          </a:bodyPr>
          <a:lstStyle/>
          <a:p>
            <a:pPr algn="l">
              <a:lnSpc>
                <a:spcPct val="150000"/>
              </a:lnSpc>
              <a:spcAft>
                <a:spcPts val="0"/>
              </a:spcAft>
            </a:pPr>
            <a:r>
              <a:rPr sz="1400" b="0" i="0">
                <a:solidFill>
                  <a:srgbClr val="2A2521"/>
                </a:solidFill>
                <a:latin typeface="Calibri"/>
              </a:rPr>
              <a:t>La plupart des structures indépendantes n’ont jamais calculé ce montant. Elles connaissent le taux de commission, elles n’ont jamais posé la multiplication sur douze mois.</a:t>
            </a:r>
          </a:p>
        </p:txBody>
      </p:sp>
      <p:sp>
        <p:nvSpPr>
          <p:cNvPr id="11" name="TextBox 10"/>
          <p:cNvSpPr txBox="1"/>
          <p:nvPr/>
        </p:nvSpPr>
        <p:spPr>
          <a:xfrm>
            <a:off x="6695999" y="3398572"/>
            <a:ext cx="4716000" cy="1036929"/>
          </a:xfrm>
          <a:prstGeom prst="rect">
            <a:avLst/>
          </a:prstGeom>
          <a:noFill/>
        </p:spPr>
        <p:txBody>
          <a:bodyPr wrap="square" lIns="0" rIns="0" tIns="0" bIns="0">
            <a:spAutoFit/>
          </a:bodyPr>
          <a:lstStyle/>
          <a:p>
            <a:pPr algn="l">
              <a:lnSpc>
                <a:spcPct val="150000"/>
              </a:lnSpc>
              <a:spcAft>
                <a:spcPts val="0"/>
              </a:spcAft>
            </a:pPr>
            <a:r>
              <a:rPr sz="1400" b="0" i="0">
                <a:solidFill>
                  <a:srgbClr val="2A2521"/>
                </a:solidFill>
                <a:latin typeface="Calibri"/>
              </a:rPr>
              <a:t>Ce chiffre ne s’enseigne pas, il se découvre. Et une fois découvert, il rend la suite du Sprint nécessaire, parce que le participant veut savoir quoi en faire.</a:t>
            </a:r>
          </a:p>
        </p:txBody>
      </p:sp>
      <p:sp>
        <p:nvSpPr>
          <p:cNvPr id="12" name="Rounded Rectangle 11"/>
          <p:cNvSpPr/>
          <p:nvPr/>
        </p:nvSpPr>
        <p:spPr>
          <a:xfrm>
            <a:off x="792000" y="4536000"/>
            <a:ext cx="10609200" cy="1612929"/>
          </a:xfrm>
          <a:prstGeom prst="roundRect">
            <a:avLst>
              <a:gd name="adj" fmla="val 4000"/>
            </a:avLst>
          </a:prstGeom>
          <a:solidFill>
            <a:srgbClr val="FFFFFF"/>
          </a:solidFill>
          <a:ln w="9525">
            <a:solidFill>
              <a:srgbClr val="E7E1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92000" y="4536000"/>
            <a:ext cx="43200" cy="1612929"/>
          </a:xfrm>
          <a:prstGeom prst="rect">
            <a:avLst/>
          </a:prstGeom>
          <a:solidFill>
            <a:srgbClr val="1E5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16000" y="4824000"/>
            <a:ext cx="9961200" cy="1036929"/>
          </a:xfrm>
          <a:prstGeom prst="rect">
            <a:avLst/>
          </a:prstGeom>
          <a:noFill/>
        </p:spPr>
        <p:txBody>
          <a:bodyPr wrap="square" lIns="0" rIns="0" tIns="0" bIns="0">
            <a:spAutoFit/>
          </a:bodyPr>
          <a:lstStyle/>
          <a:p>
            <a:pPr algn="l">
              <a:lnSpc>
                <a:spcPct val="150000"/>
              </a:lnSpc>
              <a:spcAft>
                <a:spcPts val="0"/>
              </a:spcAft>
            </a:pPr>
            <a:r>
              <a:rPr sz="1400" b="0" i="0">
                <a:solidFill>
                  <a:srgbClr val="2A2521"/>
                </a:solidFill>
                <a:latin typeface="Calibri"/>
              </a:rPr>
              <a:t>C’est aussi la réponse à la formation gratuite. Une sensibilisation collective ne peut pas produire ce moment, parce qu’elle ne travaille sur les données de personne. Un Sprint payant le peut, et c’est ce qui justifie son prix sans avoir à le défendre.</a:t>
            </a:r>
          </a:p>
        </p:txBody>
      </p:sp>
      <p:sp>
        <p:nvSpPr>
          <p:cNvPr id="15" name="TextBox 14"/>
          <p:cNvSpPr txBox="1"/>
          <p:nvPr/>
        </p:nvSpPr>
        <p:spPr>
          <a:xfrm>
            <a:off x="792000" y="6372000"/>
            <a:ext cx="9889200" cy="216000"/>
          </a:xfrm>
          <a:prstGeom prst="rect">
            <a:avLst/>
          </a:prstGeom>
          <a:noFill/>
        </p:spPr>
        <p:txBody>
          <a:bodyPr wrap="square" lIns="0" rIns="0" tIns="0" bIns="0">
            <a:spAutoFit/>
          </a:bodyPr>
          <a:lstStyle/>
          <a:p>
            <a:pPr algn="l">
              <a:lnSpc>
                <a:spcPct val="125000"/>
              </a:lnSpc>
              <a:spcAft>
                <a:spcPts val="0"/>
              </a:spcAft>
            </a:pPr>
            <a:r>
              <a:rPr sz="800" b="0" i="0">
                <a:solidFill>
                  <a:srgbClr val="6A635B"/>
                </a:solidFill>
                <a:latin typeface="Calibri"/>
              </a:rPr>
              <a:t>Mr Attractor  ·  proposition d’approche  ·  Sprint IA Tourisme et Loisirs</a:t>
            </a:r>
          </a:p>
        </p:txBody>
      </p:sp>
      <p:sp>
        <p:nvSpPr>
          <p:cNvPr id="16" name="TextBox 15"/>
          <p:cNvSpPr txBox="1"/>
          <p:nvPr/>
        </p:nvSpPr>
        <p:spPr>
          <a:xfrm>
            <a:off x="10681200" y="6372000"/>
            <a:ext cx="720000" cy="216000"/>
          </a:xfrm>
          <a:prstGeom prst="rect">
            <a:avLst/>
          </a:prstGeom>
          <a:noFill/>
        </p:spPr>
        <p:txBody>
          <a:bodyPr wrap="square" lIns="0" rIns="0" tIns="0" bIns="0">
            <a:spAutoFit/>
          </a:bodyPr>
          <a:lstStyle/>
          <a:p>
            <a:pPr algn="r">
              <a:lnSpc>
                <a:spcPct val="125000"/>
              </a:lnSpc>
              <a:spcAft>
                <a:spcPts val="0"/>
              </a:spcAft>
            </a:pPr>
            <a:r>
              <a:rPr sz="800" b="0" i="0">
                <a:solidFill>
                  <a:srgbClr val="6A635B"/>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FA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92000" y="540000"/>
            <a:ext cx="10609200" cy="288000"/>
          </a:xfrm>
          <a:prstGeom prst="rect">
            <a:avLst/>
          </a:prstGeom>
          <a:noFill/>
        </p:spPr>
        <p:txBody>
          <a:bodyPr wrap="square" lIns="0" rIns="0" tIns="0" bIns="0">
            <a:spAutoFit/>
          </a:bodyPr>
          <a:lstStyle/>
          <a:p>
            <a:pPr algn="l">
              <a:lnSpc>
                <a:spcPct val="125000"/>
              </a:lnSpc>
              <a:spcAft>
                <a:spcPts val="0"/>
              </a:spcAft>
            </a:pPr>
            <a:r>
              <a:rPr sz="1050" b="1" i="0">
                <a:solidFill>
                  <a:srgbClr val="F25C05"/>
                </a:solidFill>
                <a:latin typeface="Calibri"/>
              </a:rPr>
              <a:t>CE QUE L’APPROCHE APPORTE À VOTRE COMITÉ</a:t>
            </a:r>
          </a:p>
        </p:txBody>
      </p:sp>
      <p:sp>
        <p:nvSpPr>
          <p:cNvPr id="4" name="TextBox 3"/>
          <p:cNvSpPr txBox="1"/>
          <p:nvPr/>
        </p:nvSpPr>
        <p:spPr>
          <a:xfrm>
            <a:off x="792000" y="810000"/>
            <a:ext cx="10609200" cy="720000"/>
          </a:xfrm>
          <a:prstGeom prst="rect">
            <a:avLst/>
          </a:prstGeom>
          <a:noFill/>
        </p:spPr>
        <p:txBody>
          <a:bodyPr wrap="square" lIns="0" rIns="0" tIns="0" bIns="0">
            <a:spAutoFit/>
          </a:bodyPr>
          <a:lstStyle/>
          <a:p>
            <a:pPr algn="l">
              <a:lnSpc>
                <a:spcPct val="110000"/>
              </a:lnSpc>
              <a:spcAft>
                <a:spcPts val="0"/>
              </a:spcAft>
            </a:pPr>
            <a:r>
              <a:rPr sz="2600" b="1" i="0">
                <a:solidFill>
                  <a:srgbClr val="1A1714"/>
                </a:solidFill>
                <a:latin typeface="Calibri"/>
              </a:rPr>
              <a:t>Des critères de réussite enfin vérifiables</a:t>
            </a:r>
          </a:p>
        </p:txBody>
      </p:sp>
      <p:sp>
        <p:nvSpPr>
          <p:cNvPr id="5" name="Rectangle 4"/>
          <p:cNvSpPr/>
          <p:nvPr/>
        </p:nvSpPr>
        <p:spPr>
          <a:xfrm>
            <a:off x="792000" y="1278000"/>
            <a:ext cx="1224000" cy="36000"/>
          </a:xfrm>
          <a:prstGeom prst="rect">
            <a:avLst/>
          </a:prstGeom>
          <a:solidFill>
            <a:srgbClr val="F25C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2000" y="1764000"/>
            <a:ext cx="10609200" cy="576000"/>
          </a:xfrm>
          <a:prstGeom prst="rect">
            <a:avLst/>
          </a:prstGeom>
          <a:noFill/>
        </p:spPr>
        <p:txBody>
          <a:bodyPr wrap="square" lIns="0" rIns="0" tIns="0" bIns="0">
            <a:spAutoFit/>
          </a:bodyPr>
          <a:lstStyle/>
          <a:p>
            <a:pPr algn="l">
              <a:lnSpc>
                <a:spcPct val="150000"/>
              </a:lnSpc>
              <a:spcAft>
                <a:spcPts val="0"/>
              </a:spcAft>
            </a:pPr>
            <a:r>
              <a:rPr sz="1400" b="0" i="0">
                <a:solidFill>
                  <a:srgbClr val="2A2521"/>
                </a:solidFill>
                <a:latin typeface="Calibri"/>
              </a:rPr>
              <a:t>Votre gabarit impose une formulation stricte : être capable de, un verbe d’action, un critère de réussite, des conditions de réalisation. Sur une formation en ligne, le critère de réussite est le point faible habituel, parce que rien ne permet de le constater.</a:t>
            </a:r>
          </a:p>
        </p:txBody>
      </p:sp>
      <p:sp>
        <p:nvSpPr>
          <p:cNvPr id="7" name="Rounded Rectangle 6"/>
          <p:cNvSpPr/>
          <p:nvPr/>
        </p:nvSpPr>
        <p:spPr>
          <a:xfrm>
            <a:off x="792000" y="2556000"/>
            <a:ext cx="10609200" cy="900000"/>
          </a:xfrm>
          <a:prstGeom prst="roundRect">
            <a:avLst>
              <a:gd name="adj" fmla="val 4000"/>
            </a:avLst>
          </a:prstGeom>
          <a:solidFill>
            <a:srgbClr val="FFFFFF"/>
          </a:solidFill>
          <a:ln w="9525">
            <a:solidFill>
              <a:srgbClr val="E7E1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92000" y="2556000"/>
            <a:ext cx="43200" cy="900000"/>
          </a:xfrm>
          <a:prstGeom prst="rect">
            <a:avLst/>
          </a:prstGeom>
          <a:solidFill>
            <a:srgbClr val="1E5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80000" y="2807999"/>
            <a:ext cx="396000" cy="396000"/>
          </a:xfrm>
          <a:prstGeom prst="ellipse">
            <a:avLst/>
          </a:prstGeom>
          <a:solidFill>
            <a:srgbClr val="1E5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FFFFFF"/>
                </a:solidFill>
                <a:latin typeface="Calibri"/>
              </a:rPr>
              <a:t>1</a:t>
            </a:r>
          </a:p>
        </p:txBody>
      </p:sp>
      <p:sp>
        <p:nvSpPr>
          <p:cNvPr id="10" name="TextBox 9"/>
          <p:cNvSpPr txBox="1"/>
          <p:nvPr/>
        </p:nvSpPr>
        <p:spPr>
          <a:xfrm>
            <a:off x="1692000" y="2736000"/>
            <a:ext cx="9385200" cy="288000"/>
          </a:xfrm>
          <a:prstGeom prst="rect">
            <a:avLst/>
          </a:prstGeom>
          <a:noFill/>
        </p:spPr>
        <p:txBody>
          <a:bodyPr wrap="square" lIns="0" rIns="0" tIns="0" bIns="0">
            <a:spAutoFit/>
          </a:bodyPr>
          <a:lstStyle/>
          <a:p>
            <a:pPr algn="l">
              <a:lnSpc>
                <a:spcPct val="125000"/>
              </a:lnSpc>
              <a:spcAft>
                <a:spcPts val="0"/>
              </a:spcAft>
            </a:pPr>
            <a:r>
              <a:rPr sz="1450" b="1" i="0">
                <a:solidFill>
                  <a:srgbClr val="1A1714"/>
                </a:solidFill>
                <a:latin typeface="Calibri"/>
              </a:rPr>
              <a:t>Le critère est constaté, pas déclaré</a:t>
            </a:r>
          </a:p>
        </p:txBody>
      </p:sp>
      <p:sp>
        <p:nvSpPr>
          <p:cNvPr id="11" name="TextBox 10"/>
          <p:cNvSpPr txBox="1"/>
          <p:nvPr/>
        </p:nvSpPr>
        <p:spPr>
          <a:xfrm>
            <a:off x="1692000" y="3042000"/>
            <a:ext cx="9385200" cy="360000"/>
          </a:xfrm>
          <a:prstGeom prst="rect">
            <a:avLst/>
          </a:prstGeom>
          <a:noFill/>
        </p:spPr>
        <p:txBody>
          <a:bodyPr wrap="square" lIns="0" rIns="0" tIns="0" bIns="0">
            <a:spAutoFit/>
          </a:bodyPr>
          <a:lstStyle/>
          <a:p>
            <a:pPr algn="l">
              <a:lnSpc>
                <a:spcPct val="140000"/>
              </a:lnSpc>
              <a:spcAft>
                <a:spcPts val="0"/>
              </a:spcAft>
            </a:pPr>
            <a:r>
              <a:rPr sz="1200" b="0" i="0">
                <a:solidFill>
                  <a:srgbClr val="2A2521"/>
                </a:solidFill>
                <a:latin typeface="Calibri"/>
              </a:rPr>
              <a:t>L’écart entre le calcul du participant et le calcul de référence est inférieur à 5 %. L’outil le mesure, le formateur n’a pas à en juger.</a:t>
            </a:r>
          </a:p>
        </p:txBody>
      </p:sp>
      <p:sp>
        <p:nvSpPr>
          <p:cNvPr id="12" name="Rounded Rectangle 11"/>
          <p:cNvSpPr/>
          <p:nvPr/>
        </p:nvSpPr>
        <p:spPr>
          <a:xfrm>
            <a:off x="792000" y="3600000"/>
            <a:ext cx="10609200" cy="900000"/>
          </a:xfrm>
          <a:prstGeom prst="roundRect">
            <a:avLst>
              <a:gd name="adj" fmla="val 4000"/>
            </a:avLst>
          </a:prstGeom>
          <a:solidFill>
            <a:srgbClr val="FFFFFF"/>
          </a:solidFill>
          <a:ln w="9525">
            <a:solidFill>
              <a:srgbClr val="E7E1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92000" y="3600000"/>
            <a:ext cx="43200" cy="900000"/>
          </a:xfrm>
          <a:prstGeom prst="rect">
            <a:avLst/>
          </a:prstGeom>
          <a:solidFill>
            <a:srgbClr val="1E5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80000" y="3851999"/>
            <a:ext cx="396000" cy="396000"/>
          </a:xfrm>
          <a:prstGeom prst="ellipse">
            <a:avLst/>
          </a:prstGeom>
          <a:solidFill>
            <a:srgbClr val="1E5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FFFFFF"/>
                </a:solidFill>
                <a:latin typeface="Calibri"/>
              </a:rPr>
              <a:t>2</a:t>
            </a:r>
          </a:p>
        </p:txBody>
      </p:sp>
      <p:sp>
        <p:nvSpPr>
          <p:cNvPr id="15" name="TextBox 14"/>
          <p:cNvSpPr txBox="1"/>
          <p:nvPr/>
        </p:nvSpPr>
        <p:spPr>
          <a:xfrm>
            <a:off x="1692000" y="3780000"/>
            <a:ext cx="9385200" cy="288000"/>
          </a:xfrm>
          <a:prstGeom prst="rect">
            <a:avLst/>
          </a:prstGeom>
          <a:noFill/>
        </p:spPr>
        <p:txBody>
          <a:bodyPr wrap="square" lIns="0" rIns="0" tIns="0" bIns="0">
            <a:spAutoFit/>
          </a:bodyPr>
          <a:lstStyle/>
          <a:p>
            <a:pPr algn="l">
              <a:lnSpc>
                <a:spcPct val="125000"/>
              </a:lnSpc>
              <a:spcAft>
                <a:spcPts val="0"/>
              </a:spcAft>
            </a:pPr>
            <a:r>
              <a:rPr sz="1450" b="1" i="0">
                <a:solidFill>
                  <a:srgbClr val="1A1714"/>
                </a:solidFill>
                <a:latin typeface="Calibri"/>
              </a:rPr>
              <a:t>Les conditions de réalisation sont réelles</a:t>
            </a:r>
          </a:p>
        </p:txBody>
      </p:sp>
      <p:sp>
        <p:nvSpPr>
          <p:cNvPr id="16" name="TextBox 15"/>
          <p:cNvSpPr txBox="1"/>
          <p:nvPr/>
        </p:nvSpPr>
        <p:spPr>
          <a:xfrm>
            <a:off x="1692000" y="4086000"/>
            <a:ext cx="9385200" cy="360000"/>
          </a:xfrm>
          <a:prstGeom prst="rect">
            <a:avLst/>
          </a:prstGeom>
          <a:noFill/>
        </p:spPr>
        <p:txBody>
          <a:bodyPr wrap="square" lIns="0" rIns="0" tIns="0" bIns="0">
            <a:spAutoFit/>
          </a:bodyPr>
          <a:lstStyle/>
          <a:p>
            <a:pPr algn="l">
              <a:lnSpc>
                <a:spcPct val="140000"/>
              </a:lnSpc>
              <a:spcAft>
                <a:spcPts val="0"/>
              </a:spcAft>
            </a:pPr>
            <a:r>
              <a:rPr sz="1200" b="0" i="0">
                <a:solidFill>
                  <a:srgbClr val="2A2521"/>
                </a:solidFill>
                <a:latin typeface="Calibri"/>
              </a:rPr>
              <a:t>Elles ne décrivent plus une salle et un support, mais un tableau de bord et les propres données du participant. C’est vérifiable à distance.</a:t>
            </a:r>
          </a:p>
        </p:txBody>
      </p:sp>
      <p:sp>
        <p:nvSpPr>
          <p:cNvPr id="17" name="Rounded Rectangle 16"/>
          <p:cNvSpPr/>
          <p:nvPr/>
        </p:nvSpPr>
        <p:spPr>
          <a:xfrm>
            <a:off x="792000" y="4644000"/>
            <a:ext cx="10609200" cy="900000"/>
          </a:xfrm>
          <a:prstGeom prst="roundRect">
            <a:avLst>
              <a:gd name="adj" fmla="val 4000"/>
            </a:avLst>
          </a:prstGeom>
          <a:solidFill>
            <a:srgbClr val="FFFFFF"/>
          </a:solidFill>
          <a:ln w="9525">
            <a:solidFill>
              <a:srgbClr val="E7E1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92000" y="4644000"/>
            <a:ext cx="43200" cy="900000"/>
          </a:xfrm>
          <a:prstGeom prst="rect">
            <a:avLst/>
          </a:prstGeom>
          <a:solidFill>
            <a:srgbClr val="1E5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80000" y="4895999"/>
            <a:ext cx="396000" cy="396000"/>
          </a:xfrm>
          <a:prstGeom prst="ellipse">
            <a:avLst/>
          </a:prstGeom>
          <a:solidFill>
            <a:srgbClr val="1E5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FFFFFF"/>
                </a:solidFill>
                <a:latin typeface="Calibri"/>
              </a:rPr>
              <a:t>3</a:t>
            </a:r>
          </a:p>
        </p:txBody>
      </p:sp>
      <p:sp>
        <p:nvSpPr>
          <p:cNvPr id="20" name="TextBox 19"/>
          <p:cNvSpPr txBox="1"/>
          <p:nvPr/>
        </p:nvSpPr>
        <p:spPr>
          <a:xfrm>
            <a:off x="1692000" y="4824000"/>
            <a:ext cx="9385200" cy="288000"/>
          </a:xfrm>
          <a:prstGeom prst="rect">
            <a:avLst/>
          </a:prstGeom>
          <a:noFill/>
        </p:spPr>
        <p:txBody>
          <a:bodyPr wrap="square" lIns="0" rIns="0" tIns="0" bIns="0">
            <a:spAutoFit/>
          </a:bodyPr>
          <a:lstStyle/>
          <a:p>
            <a:pPr algn="l">
              <a:lnSpc>
                <a:spcPct val="125000"/>
              </a:lnSpc>
              <a:spcAft>
                <a:spcPts val="0"/>
              </a:spcAft>
            </a:pPr>
            <a:r>
              <a:rPr sz="1450" b="1" i="0">
                <a:solidFill>
                  <a:srgbClr val="1A1714"/>
                </a:solidFill>
                <a:latin typeface="Calibri"/>
              </a:rPr>
              <a:t>La progression taxonomique est portée par la séance</a:t>
            </a:r>
          </a:p>
        </p:txBody>
      </p:sp>
      <p:sp>
        <p:nvSpPr>
          <p:cNvPr id="21" name="TextBox 20"/>
          <p:cNvSpPr txBox="1"/>
          <p:nvPr/>
        </p:nvSpPr>
        <p:spPr>
          <a:xfrm>
            <a:off x="1692000" y="5130000"/>
            <a:ext cx="9385200" cy="360000"/>
          </a:xfrm>
          <a:prstGeom prst="rect">
            <a:avLst/>
          </a:prstGeom>
          <a:noFill/>
        </p:spPr>
        <p:txBody>
          <a:bodyPr wrap="square" lIns="0" rIns="0" tIns="0" bIns="0">
            <a:spAutoFit/>
          </a:bodyPr>
          <a:lstStyle/>
          <a:p>
            <a:pPr algn="l">
              <a:lnSpc>
                <a:spcPct val="140000"/>
              </a:lnSpc>
              <a:spcAft>
                <a:spcPts val="0"/>
              </a:spcAft>
            </a:pPr>
            <a:r>
              <a:rPr sz="1200" b="0" i="0">
                <a:solidFill>
                  <a:srgbClr val="2A2521"/>
                </a:solidFill>
                <a:latin typeface="Calibri"/>
              </a:rPr>
              <a:t>Le Sprint monte de Analyser à Créer, et le sixième objectif général se termine sur une production. Le niveau visé est atteint par construction.</a:t>
            </a:r>
          </a:p>
        </p:txBody>
      </p:sp>
      <p:sp>
        <p:nvSpPr>
          <p:cNvPr id="22" name="TextBox 21"/>
          <p:cNvSpPr txBox="1"/>
          <p:nvPr/>
        </p:nvSpPr>
        <p:spPr>
          <a:xfrm>
            <a:off x="792000" y="5760000"/>
            <a:ext cx="10609200" cy="360000"/>
          </a:xfrm>
          <a:prstGeom prst="rect">
            <a:avLst/>
          </a:prstGeom>
          <a:noFill/>
        </p:spPr>
        <p:txBody>
          <a:bodyPr wrap="square" lIns="0" rIns="0" tIns="0" bIns="0">
            <a:spAutoFit/>
          </a:bodyPr>
          <a:lstStyle/>
          <a:p>
            <a:pPr algn="l">
              <a:lnSpc>
                <a:spcPct val="125000"/>
              </a:lnSpc>
              <a:spcAft>
                <a:spcPts val="0"/>
              </a:spcAft>
            </a:pPr>
            <a:r>
              <a:rPr sz="1300" b="0" i="1">
                <a:solidFill>
                  <a:srgbClr val="6A635B"/>
                </a:solidFill>
                <a:latin typeface="Calibri"/>
              </a:rPr>
              <a:t>Le plan de formation complet, rédigé au format de votre gabarit, accompagne ce document.</a:t>
            </a:r>
          </a:p>
        </p:txBody>
      </p:sp>
      <p:sp>
        <p:nvSpPr>
          <p:cNvPr id="23" name="TextBox 22"/>
          <p:cNvSpPr txBox="1"/>
          <p:nvPr/>
        </p:nvSpPr>
        <p:spPr>
          <a:xfrm>
            <a:off x="792000" y="6372000"/>
            <a:ext cx="9889200" cy="216000"/>
          </a:xfrm>
          <a:prstGeom prst="rect">
            <a:avLst/>
          </a:prstGeom>
          <a:noFill/>
        </p:spPr>
        <p:txBody>
          <a:bodyPr wrap="square" lIns="0" rIns="0" tIns="0" bIns="0">
            <a:spAutoFit/>
          </a:bodyPr>
          <a:lstStyle/>
          <a:p>
            <a:pPr algn="l">
              <a:lnSpc>
                <a:spcPct val="125000"/>
              </a:lnSpc>
              <a:spcAft>
                <a:spcPts val="0"/>
              </a:spcAft>
            </a:pPr>
            <a:r>
              <a:rPr sz="800" b="0" i="0">
                <a:solidFill>
                  <a:srgbClr val="6A635B"/>
                </a:solidFill>
                <a:latin typeface="Calibri"/>
              </a:rPr>
              <a:t>Mr Attractor  ·  proposition d’approche  ·  Sprint IA Tourisme et Loisirs</a:t>
            </a:r>
          </a:p>
        </p:txBody>
      </p:sp>
      <p:sp>
        <p:nvSpPr>
          <p:cNvPr id="24" name="TextBox 23"/>
          <p:cNvSpPr txBox="1"/>
          <p:nvPr/>
        </p:nvSpPr>
        <p:spPr>
          <a:xfrm>
            <a:off x="10681200" y="6372000"/>
            <a:ext cx="720000" cy="216000"/>
          </a:xfrm>
          <a:prstGeom prst="rect">
            <a:avLst/>
          </a:prstGeom>
          <a:noFill/>
        </p:spPr>
        <p:txBody>
          <a:bodyPr wrap="square" lIns="0" rIns="0" tIns="0" bIns="0">
            <a:spAutoFit/>
          </a:bodyPr>
          <a:lstStyle/>
          <a:p>
            <a:pPr algn="r">
              <a:lnSpc>
                <a:spcPct val="125000"/>
              </a:lnSpc>
              <a:spcAft>
                <a:spcPts val="0"/>
              </a:spcAft>
            </a:pPr>
            <a:r>
              <a:rPr sz="800" b="0" i="0">
                <a:solidFill>
                  <a:srgbClr val="6A635B"/>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FA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92000" y="540000"/>
            <a:ext cx="10609200" cy="288000"/>
          </a:xfrm>
          <a:prstGeom prst="rect">
            <a:avLst/>
          </a:prstGeom>
          <a:noFill/>
        </p:spPr>
        <p:txBody>
          <a:bodyPr wrap="square" lIns="0" rIns="0" tIns="0" bIns="0">
            <a:spAutoFit/>
          </a:bodyPr>
          <a:lstStyle/>
          <a:p>
            <a:pPr algn="l">
              <a:lnSpc>
                <a:spcPct val="125000"/>
              </a:lnSpc>
              <a:spcAft>
                <a:spcPts val="0"/>
              </a:spcAft>
            </a:pPr>
            <a:r>
              <a:rPr sz="1050" b="1" i="0">
                <a:solidFill>
                  <a:srgbClr val="F25C05"/>
                </a:solidFill>
                <a:latin typeface="Calibri"/>
              </a:rPr>
              <a:t>LE PLAN DE FORMATION JOINT</a:t>
            </a:r>
          </a:p>
        </p:txBody>
      </p:sp>
      <p:sp>
        <p:nvSpPr>
          <p:cNvPr id="4" name="TextBox 3"/>
          <p:cNvSpPr txBox="1"/>
          <p:nvPr/>
        </p:nvSpPr>
        <p:spPr>
          <a:xfrm>
            <a:off x="792000" y="810000"/>
            <a:ext cx="10609200" cy="720000"/>
          </a:xfrm>
          <a:prstGeom prst="rect">
            <a:avLst/>
          </a:prstGeom>
          <a:noFill/>
        </p:spPr>
        <p:txBody>
          <a:bodyPr wrap="square" lIns="0" rIns="0" tIns="0" bIns="0">
            <a:spAutoFit/>
          </a:bodyPr>
          <a:lstStyle/>
          <a:p>
            <a:pPr algn="l">
              <a:lnSpc>
                <a:spcPct val="110000"/>
              </a:lnSpc>
              <a:spcAft>
                <a:spcPts val="0"/>
              </a:spcAft>
            </a:pPr>
            <a:r>
              <a:rPr sz="2600" b="1" i="0">
                <a:solidFill>
                  <a:srgbClr val="1A1714"/>
                </a:solidFill>
                <a:latin typeface="Calibri"/>
              </a:rPr>
              <a:t>Écrit au format de votre gabarit, et conforme</a:t>
            </a:r>
          </a:p>
        </p:txBody>
      </p:sp>
      <p:sp>
        <p:nvSpPr>
          <p:cNvPr id="5" name="Rectangle 4"/>
          <p:cNvSpPr/>
          <p:nvPr/>
        </p:nvSpPr>
        <p:spPr>
          <a:xfrm>
            <a:off x="792000" y="1278000"/>
            <a:ext cx="1224000" cy="36000"/>
          </a:xfrm>
          <a:prstGeom prst="rect">
            <a:avLst/>
          </a:prstGeom>
          <a:solidFill>
            <a:srgbClr val="F25C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92000" y="1800000"/>
            <a:ext cx="2517300" cy="1655999"/>
          </a:xfrm>
          <a:prstGeom prst="roundRect">
            <a:avLst>
              <a:gd name="adj" fmla="val 4000"/>
            </a:avLst>
          </a:prstGeom>
          <a:solidFill>
            <a:srgbClr val="1A1714"/>
          </a:solidFill>
          <a:ln w="9525">
            <a:solidFill>
              <a:srgbClr val="1A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43999" y="2088000"/>
            <a:ext cx="2013301" cy="576000"/>
          </a:xfrm>
          <a:prstGeom prst="rect">
            <a:avLst/>
          </a:prstGeom>
          <a:noFill/>
        </p:spPr>
        <p:txBody>
          <a:bodyPr wrap="square" lIns="0" rIns="0" tIns="0" bIns="0">
            <a:spAutoFit/>
          </a:bodyPr>
          <a:lstStyle/>
          <a:p>
            <a:pPr algn="l">
              <a:lnSpc>
                <a:spcPct val="125000"/>
              </a:lnSpc>
              <a:spcAft>
                <a:spcPts val="0"/>
              </a:spcAft>
            </a:pPr>
            <a:r>
              <a:rPr sz="4000" b="1" i="0">
                <a:solidFill>
                  <a:srgbClr val="FF7A2E"/>
                </a:solidFill>
                <a:latin typeface="Calibri"/>
              </a:rPr>
              <a:t>6</a:t>
            </a:r>
          </a:p>
        </p:txBody>
      </p:sp>
      <p:sp>
        <p:nvSpPr>
          <p:cNvPr id="8" name="TextBox 7"/>
          <p:cNvSpPr txBox="1"/>
          <p:nvPr/>
        </p:nvSpPr>
        <p:spPr>
          <a:xfrm>
            <a:off x="1043999" y="2700000"/>
            <a:ext cx="2013301" cy="288000"/>
          </a:xfrm>
          <a:prstGeom prst="rect">
            <a:avLst/>
          </a:prstGeom>
          <a:noFill/>
        </p:spPr>
        <p:txBody>
          <a:bodyPr wrap="square" lIns="0" rIns="0" tIns="0" bIns="0">
            <a:spAutoFit/>
          </a:bodyPr>
          <a:lstStyle/>
          <a:p>
            <a:pPr algn="l">
              <a:lnSpc>
                <a:spcPct val="125000"/>
              </a:lnSpc>
              <a:spcAft>
                <a:spcPts val="0"/>
              </a:spcAft>
            </a:pPr>
            <a:r>
              <a:rPr sz="1250" b="1" i="0">
                <a:solidFill>
                  <a:srgbClr val="FFFFFF"/>
                </a:solidFill>
                <a:latin typeface="Calibri"/>
              </a:rPr>
              <a:t>objectifs généraux</a:t>
            </a:r>
          </a:p>
        </p:txBody>
      </p:sp>
      <p:sp>
        <p:nvSpPr>
          <p:cNvPr id="9" name="TextBox 8"/>
          <p:cNvSpPr txBox="1"/>
          <p:nvPr/>
        </p:nvSpPr>
        <p:spPr>
          <a:xfrm>
            <a:off x="1043999" y="2988000"/>
            <a:ext cx="2013301" cy="288000"/>
          </a:xfrm>
          <a:prstGeom prst="rect">
            <a:avLst/>
          </a:prstGeom>
          <a:noFill/>
        </p:spPr>
        <p:txBody>
          <a:bodyPr wrap="square" lIns="0" rIns="0" tIns="0" bIns="0">
            <a:spAutoFit/>
          </a:bodyPr>
          <a:lstStyle/>
          <a:p>
            <a:pPr algn="l">
              <a:lnSpc>
                <a:spcPct val="125000"/>
              </a:lnSpc>
              <a:spcAft>
                <a:spcPts val="0"/>
              </a:spcAft>
            </a:pPr>
            <a:r>
              <a:rPr sz="1000" b="0" i="0">
                <a:solidFill>
                  <a:srgbClr val="E7E1D8"/>
                </a:solidFill>
                <a:latin typeface="Calibri"/>
              </a:rPr>
              <a:t>minimum requis : 4</a:t>
            </a:r>
          </a:p>
        </p:txBody>
      </p:sp>
      <p:sp>
        <p:nvSpPr>
          <p:cNvPr id="10" name="Rounded Rectangle 9"/>
          <p:cNvSpPr/>
          <p:nvPr/>
        </p:nvSpPr>
        <p:spPr>
          <a:xfrm>
            <a:off x="3489300" y="1800000"/>
            <a:ext cx="2517300" cy="1655999"/>
          </a:xfrm>
          <a:prstGeom prst="roundRect">
            <a:avLst>
              <a:gd name="adj" fmla="val 4000"/>
            </a:avLst>
          </a:prstGeom>
          <a:solidFill>
            <a:srgbClr val="FFFFFF"/>
          </a:solidFill>
          <a:ln w="9525">
            <a:solidFill>
              <a:srgbClr val="E7E1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741299" y="2088000"/>
            <a:ext cx="2013301" cy="576000"/>
          </a:xfrm>
          <a:prstGeom prst="rect">
            <a:avLst/>
          </a:prstGeom>
          <a:noFill/>
        </p:spPr>
        <p:txBody>
          <a:bodyPr wrap="square" lIns="0" rIns="0" tIns="0" bIns="0">
            <a:spAutoFit/>
          </a:bodyPr>
          <a:lstStyle/>
          <a:p>
            <a:pPr algn="l">
              <a:lnSpc>
                <a:spcPct val="125000"/>
              </a:lnSpc>
              <a:spcAft>
                <a:spcPts val="0"/>
              </a:spcAft>
            </a:pPr>
            <a:r>
              <a:rPr sz="4000" b="1" i="0">
                <a:solidFill>
                  <a:srgbClr val="1A1714"/>
                </a:solidFill>
                <a:latin typeface="Calibri"/>
              </a:rPr>
              <a:t>18</a:t>
            </a:r>
          </a:p>
        </p:txBody>
      </p:sp>
      <p:sp>
        <p:nvSpPr>
          <p:cNvPr id="12" name="TextBox 11"/>
          <p:cNvSpPr txBox="1"/>
          <p:nvPr/>
        </p:nvSpPr>
        <p:spPr>
          <a:xfrm>
            <a:off x="3741299" y="2700000"/>
            <a:ext cx="2013301" cy="288000"/>
          </a:xfrm>
          <a:prstGeom prst="rect">
            <a:avLst/>
          </a:prstGeom>
          <a:noFill/>
        </p:spPr>
        <p:txBody>
          <a:bodyPr wrap="square" lIns="0" rIns="0" tIns="0" bIns="0">
            <a:spAutoFit/>
          </a:bodyPr>
          <a:lstStyle/>
          <a:p>
            <a:pPr algn="l">
              <a:lnSpc>
                <a:spcPct val="125000"/>
              </a:lnSpc>
              <a:spcAft>
                <a:spcPts val="0"/>
              </a:spcAft>
            </a:pPr>
            <a:r>
              <a:rPr sz="1250" b="1" i="0">
                <a:solidFill>
                  <a:srgbClr val="2A2521"/>
                </a:solidFill>
                <a:latin typeface="Calibri"/>
              </a:rPr>
              <a:t>objectifs spécifiques</a:t>
            </a:r>
          </a:p>
        </p:txBody>
      </p:sp>
      <p:sp>
        <p:nvSpPr>
          <p:cNvPr id="13" name="TextBox 12"/>
          <p:cNvSpPr txBox="1"/>
          <p:nvPr/>
        </p:nvSpPr>
        <p:spPr>
          <a:xfrm>
            <a:off x="3741299" y="2988000"/>
            <a:ext cx="2013301" cy="288000"/>
          </a:xfrm>
          <a:prstGeom prst="rect">
            <a:avLst/>
          </a:prstGeom>
          <a:noFill/>
        </p:spPr>
        <p:txBody>
          <a:bodyPr wrap="square" lIns="0" rIns="0" tIns="0" bIns="0">
            <a:spAutoFit/>
          </a:bodyPr>
          <a:lstStyle/>
          <a:p>
            <a:pPr algn="l">
              <a:lnSpc>
                <a:spcPct val="125000"/>
              </a:lnSpc>
              <a:spcAft>
                <a:spcPts val="0"/>
              </a:spcAft>
            </a:pPr>
            <a:r>
              <a:rPr sz="1000" b="0" i="0">
                <a:solidFill>
                  <a:srgbClr val="6A635B"/>
                </a:solidFill>
                <a:latin typeface="Calibri"/>
              </a:rPr>
              <a:t>de 2 à 5 par objectif général</a:t>
            </a:r>
          </a:p>
        </p:txBody>
      </p:sp>
      <p:sp>
        <p:nvSpPr>
          <p:cNvPr id="14" name="Rounded Rectangle 13"/>
          <p:cNvSpPr/>
          <p:nvPr/>
        </p:nvSpPr>
        <p:spPr>
          <a:xfrm>
            <a:off x="6186600" y="1800000"/>
            <a:ext cx="2517300" cy="1655999"/>
          </a:xfrm>
          <a:prstGeom prst="roundRect">
            <a:avLst>
              <a:gd name="adj" fmla="val 4000"/>
            </a:avLst>
          </a:prstGeom>
          <a:solidFill>
            <a:srgbClr val="1A1714"/>
          </a:solidFill>
          <a:ln w="9525">
            <a:solidFill>
              <a:srgbClr val="1A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38599" y="2088000"/>
            <a:ext cx="2013301" cy="576000"/>
          </a:xfrm>
          <a:prstGeom prst="rect">
            <a:avLst/>
          </a:prstGeom>
          <a:noFill/>
        </p:spPr>
        <p:txBody>
          <a:bodyPr wrap="square" lIns="0" rIns="0" tIns="0" bIns="0">
            <a:spAutoFit/>
          </a:bodyPr>
          <a:lstStyle/>
          <a:p>
            <a:pPr algn="l">
              <a:lnSpc>
                <a:spcPct val="125000"/>
              </a:lnSpc>
              <a:spcAft>
                <a:spcPts val="0"/>
              </a:spcAft>
            </a:pPr>
            <a:r>
              <a:rPr sz="4000" b="1" i="0">
                <a:solidFill>
                  <a:srgbClr val="FF7A2E"/>
                </a:solidFill>
                <a:latin typeface="Calibri"/>
              </a:rPr>
              <a:t>60</a:t>
            </a:r>
          </a:p>
        </p:txBody>
      </p:sp>
      <p:sp>
        <p:nvSpPr>
          <p:cNvPr id="16" name="TextBox 15"/>
          <p:cNvSpPr txBox="1"/>
          <p:nvPr/>
        </p:nvSpPr>
        <p:spPr>
          <a:xfrm>
            <a:off x="6438599" y="2700000"/>
            <a:ext cx="2013301" cy="288000"/>
          </a:xfrm>
          <a:prstGeom prst="rect">
            <a:avLst/>
          </a:prstGeom>
          <a:noFill/>
        </p:spPr>
        <p:txBody>
          <a:bodyPr wrap="square" lIns="0" rIns="0" tIns="0" bIns="0">
            <a:spAutoFit/>
          </a:bodyPr>
          <a:lstStyle/>
          <a:p>
            <a:pPr algn="l">
              <a:lnSpc>
                <a:spcPct val="125000"/>
              </a:lnSpc>
              <a:spcAft>
                <a:spcPts val="0"/>
              </a:spcAft>
            </a:pPr>
            <a:r>
              <a:rPr sz="1250" b="1" i="0">
                <a:solidFill>
                  <a:srgbClr val="FFFFFF"/>
                </a:solidFill>
                <a:latin typeface="Calibri"/>
              </a:rPr>
              <a:t>éléments de contenu</a:t>
            </a:r>
          </a:p>
        </p:txBody>
      </p:sp>
      <p:sp>
        <p:nvSpPr>
          <p:cNvPr id="17" name="TextBox 16"/>
          <p:cNvSpPr txBox="1"/>
          <p:nvPr/>
        </p:nvSpPr>
        <p:spPr>
          <a:xfrm>
            <a:off x="6438599" y="2988000"/>
            <a:ext cx="2013301" cy="288000"/>
          </a:xfrm>
          <a:prstGeom prst="rect">
            <a:avLst/>
          </a:prstGeom>
          <a:noFill/>
        </p:spPr>
        <p:txBody>
          <a:bodyPr wrap="square" lIns="0" rIns="0" tIns="0" bIns="0">
            <a:spAutoFit/>
          </a:bodyPr>
          <a:lstStyle/>
          <a:p>
            <a:pPr algn="l">
              <a:lnSpc>
                <a:spcPct val="125000"/>
              </a:lnSpc>
              <a:spcAft>
                <a:spcPts val="0"/>
              </a:spcAft>
            </a:pPr>
            <a:r>
              <a:rPr sz="1000" b="0" i="0">
                <a:solidFill>
                  <a:srgbClr val="E7E1D8"/>
                </a:solidFill>
                <a:latin typeface="Calibri"/>
              </a:rPr>
              <a:t>minimum requis : 30</a:t>
            </a:r>
          </a:p>
        </p:txBody>
      </p:sp>
      <p:sp>
        <p:nvSpPr>
          <p:cNvPr id="18" name="Rounded Rectangle 17"/>
          <p:cNvSpPr/>
          <p:nvPr/>
        </p:nvSpPr>
        <p:spPr>
          <a:xfrm>
            <a:off x="8883900" y="1800000"/>
            <a:ext cx="2517300" cy="1655999"/>
          </a:xfrm>
          <a:prstGeom prst="roundRect">
            <a:avLst>
              <a:gd name="adj" fmla="val 4000"/>
            </a:avLst>
          </a:prstGeom>
          <a:solidFill>
            <a:srgbClr val="FFFFFF"/>
          </a:solidFill>
          <a:ln w="9525">
            <a:solidFill>
              <a:srgbClr val="E7E1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135899" y="2088000"/>
            <a:ext cx="2013301" cy="576000"/>
          </a:xfrm>
          <a:prstGeom prst="rect">
            <a:avLst/>
          </a:prstGeom>
          <a:noFill/>
        </p:spPr>
        <p:txBody>
          <a:bodyPr wrap="square" lIns="0" rIns="0" tIns="0" bIns="0">
            <a:spAutoFit/>
          </a:bodyPr>
          <a:lstStyle/>
          <a:p>
            <a:pPr algn="l">
              <a:lnSpc>
                <a:spcPct val="125000"/>
              </a:lnSpc>
              <a:spcAft>
                <a:spcPts val="0"/>
              </a:spcAft>
            </a:pPr>
            <a:r>
              <a:rPr sz="4000" b="1" i="0">
                <a:solidFill>
                  <a:srgbClr val="1A1714"/>
                </a:solidFill>
                <a:latin typeface="Calibri"/>
              </a:rPr>
              <a:t>14 h</a:t>
            </a:r>
          </a:p>
        </p:txBody>
      </p:sp>
      <p:sp>
        <p:nvSpPr>
          <p:cNvPr id="20" name="TextBox 19"/>
          <p:cNvSpPr txBox="1"/>
          <p:nvPr/>
        </p:nvSpPr>
        <p:spPr>
          <a:xfrm>
            <a:off x="9135899" y="2700000"/>
            <a:ext cx="2013301" cy="288000"/>
          </a:xfrm>
          <a:prstGeom prst="rect">
            <a:avLst/>
          </a:prstGeom>
          <a:noFill/>
        </p:spPr>
        <p:txBody>
          <a:bodyPr wrap="square" lIns="0" rIns="0" tIns="0" bIns="0">
            <a:spAutoFit/>
          </a:bodyPr>
          <a:lstStyle/>
          <a:p>
            <a:pPr algn="l">
              <a:lnSpc>
                <a:spcPct val="125000"/>
              </a:lnSpc>
              <a:spcAft>
                <a:spcPts val="0"/>
              </a:spcAft>
            </a:pPr>
            <a:r>
              <a:rPr sz="1250" b="1" i="0">
                <a:solidFill>
                  <a:srgbClr val="2A2521"/>
                </a:solidFill>
                <a:latin typeface="Calibri"/>
              </a:rPr>
              <a:t>réparties en 2 journées</a:t>
            </a:r>
          </a:p>
        </p:txBody>
      </p:sp>
      <p:sp>
        <p:nvSpPr>
          <p:cNvPr id="21" name="TextBox 20"/>
          <p:cNvSpPr txBox="1"/>
          <p:nvPr/>
        </p:nvSpPr>
        <p:spPr>
          <a:xfrm>
            <a:off x="9135899" y="2988000"/>
            <a:ext cx="2013301" cy="288000"/>
          </a:xfrm>
          <a:prstGeom prst="rect">
            <a:avLst/>
          </a:prstGeom>
          <a:noFill/>
        </p:spPr>
        <p:txBody>
          <a:bodyPr wrap="square" lIns="0" rIns="0" tIns="0" bIns="0">
            <a:spAutoFit/>
          </a:bodyPr>
          <a:lstStyle/>
          <a:p>
            <a:pPr algn="l">
              <a:lnSpc>
                <a:spcPct val="125000"/>
              </a:lnSpc>
              <a:spcAft>
                <a:spcPts val="0"/>
              </a:spcAft>
            </a:pPr>
            <a:r>
              <a:rPr sz="1000" b="0" i="0">
                <a:solidFill>
                  <a:srgbClr val="6A635B"/>
                </a:solidFill>
                <a:latin typeface="Calibri"/>
              </a:rPr>
              <a:t>de 7 heures, 100 % en ligne</a:t>
            </a:r>
          </a:p>
        </p:txBody>
      </p:sp>
      <p:sp>
        <p:nvSpPr>
          <p:cNvPr id="22" name="TextBox 21"/>
          <p:cNvSpPr txBox="1"/>
          <p:nvPr/>
        </p:nvSpPr>
        <p:spPr>
          <a:xfrm>
            <a:off x="792000" y="3816000"/>
            <a:ext cx="10609200" cy="360000"/>
          </a:xfrm>
          <a:prstGeom prst="rect">
            <a:avLst/>
          </a:prstGeom>
          <a:noFill/>
        </p:spPr>
        <p:txBody>
          <a:bodyPr wrap="square" lIns="0" rIns="0" tIns="0" bIns="0">
            <a:spAutoFit/>
          </a:bodyPr>
          <a:lstStyle/>
          <a:p>
            <a:pPr algn="l">
              <a:lnSpc>
                <a:spcPct val="125000"/>
              </a:lnSpc>
              <a:spcAft>
                <a:spcPts val="0"/>
              </a:spcAft>
            </a:pPr>
            <a:r>
              <a:rPr sz="1600" b="1" i="0">
                <a:solidFill>
                  <a:srgbClr val="1A1714"/>
                </a:solidFill>
                <a:latin typeface="Calibri"/>
              </a:rPr>
              <a:t>La structure des six objectifs généraux</a:t>
            </a:r>
          </a:p>
        </p:txBody>
      </p:sp>
      <p:sp>
        <p:nvSpPr>
          <p:cNvPr id="23" name="Rectangle 22"/>
          <p:cNvSpPr/>
          <p:nvPr/>
        </p:nvSpPr>
        <p:spPr>
          <a:xfrm>
            <a:off x="792000" y="4327200"/>
            <a:ext cx="36000" cy="306000"/>
          </a:xfrm>
          <a:prstGeom prst="rect">
            <a:avLst/>
          </a:prstGeom>
          <a:solidFill>
            <a:srgbClr val="F25C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54000" y="4284000"/>
            <a:ext cx="576000" cy="251999"/>
          </a:xfrm>
          <a:prstGeom prst="rect">
            <a:avLst/>
          </a:prstGeom>
          <a:noFill/>
        </p:spPr>
        <p:txBody>
          <a:bodyPr wrap="square" lIns="0" rIns="0" tIns="0" bIns="0">
            <a:spAutoFit/>
          </a:bodyPr>
          <a:lstStyle/>
          <a:p>
            <a:pPr algn="l">
              <a:lnSpc>
                <a:spcPct val="125000"/>
              </a:lnSpc>
              <a:spcAft>
                <a:spcPts val="0"/>
              </a:spcAft>
            </a:pPr>
            <a:r>
              <a:rPr sz="1200" b="1" i="0">
                <a:solidFill>
                  <a:srgbClr val="1A1714"/>
                </a:solidFill>
                <a:latin typeface="Calibri"/>
              </a:rPr>
              <a:t>OG 1</a:t>
            </a:r>
          </a:p>
        </p:txBody>
      </p:sp>
      <p:sp>
        <p:nvSpPr>
          <p:cNvPr id="25" name="TextBox 24"/>
          <p:cNvSpPr txBox="1"/>
          <p:nvPr/>
        </p:nvSpPr>
        <p:spPr>
          <a:xfrm>
            <a:off x="1548000" y="4284000"/>
            <a:ext cx="3504601" cy="251999"/>
          </a:xfrm>
          <a:prstGeom prst="rect">
            <a:avLst/>
          </a:prstGeom>
          <a:noFill/>
        </p:spPr>
        <p:txBody>
          <a:bodyPr wrap="square" lIns="0" rIns="0" tIns="0" bIns="0">
            <a:spAutoFit/>
          </a:bodyPr>
          <a:lstStyle/>
          <a:p>
            <a:pPr algn="l">
              <a:lnSpc>
                <a:spcPct val="125000"/>
              </a:lnSpc>
              <a:spcAft>
                <a:spcPts val="0"/>
              </a:spcAft>
            </a:pPr>
            <a:r>
              <a:rPr sz="1200" b="0" i="0">
                <a:solidFill>
                  <a:srgbClr val="2A2521"/>
                </a:solidFill>
                <a:latin typeface="Calibri"/>
              </a:rPr>
              <a:t>Diagnostic de maturité et de performance</a:t>
            </a:r>
          </a:p>
        </p:txBody>
      </p:sp>
      <p:sp>
        <p:nvSpPr>
          <p:cNvPr id="26" name="TextBox 25"/>
          <p:cNvSpPr txBox="1"/>
          <p:nvPr/>
        </p:nvSpPr>
        <p:spPr>
          <a:xfrm>
            <a:off x="5088600" y="4284000"/>
            <a:ext cx="864000" cy="251999"/>
          </a:xfrm>
          <a:prstGeom prst="rect">
            <a:avLst/>
          </a:prstGeom>
          <a:noFill/>
        </p:spPr>
        <p:txBody>
          <a:bodyPr wrap="square" lIns="0" rIns="0" tIns="0" bIns="0">
            <a:spAutoFit/>
          </a:bodyPr>
          <a:lstStyle/>
          <a:p>
            <a:pPr algn="r">
              <a:lnSpc>
                <a:spcPct val="125000"/>
              </a:lnSpc>
              <a:spcAft>
                <a:spcPts val="0"/>
              </a:spcAft>
            </a:pPr>
            <a:r>
              <a:rPr sz="1000" b="0" i="0">
                <a:solidFill>
                  <a:srgbClr val="F25C05"/>
                </a:solidFill>
                <a:latin typeface="Calibri"/>
              </a:rPr>
              <a:t>ajouté</a:t>
            </a:r>
          </a:p>
        </p:txBody>
      </p:sp>
      <p:sp>
        <p:nvSpPr>
          <p:cNvPr id="27" name="Rectangle 26"/>
          <p:cNvSpPr/>
          <p:nvPr/>
        </p:nvSpPr>
        <p:spPr>
          <a:xfrm>
            <a:off x="6240600" y="4327200"/>
            <a:ext cx="36000" cy="306000"/>
          </a:xfrm>
          <a:prstGeom prst="rect">
            <a:avLst/>
          </a:prstGeom>
          <a:solidFill>
            <a:srgbClr val="1E5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2600" y="4284000"/>
            <a:ext cx="576000" cy="251999"/>
          </a:xfrm>
          <a:prstGeom prst="rect">
            <a:avLst/>
          </a:prstGeom>
          <a:noFill/>
        </p:spPr>
        <p:txBody>
          <a:bodyPr wrap="square" lIns="0" rIns="0" tIns="0" bIns="0">
            <a:spAutoFit/>
          </a:bodyPr>
          <a:lstStyle/>
          <a:p>
            <a:pPr algn="l">
              <a:lnSpc>
                <a:spcPct val="125000"/>
              </a:lnSpc>
              <a:spcAft>
                <a:spcPts val="0"/>
              </a:spcAft>
            </a:pPr>
            <a:r>
              <a:rPr sz="1200" b="1" i="0">
                <a:solidFill>
                  <a:srgbClr val="1A1714"/>
                </a:solidFill>
                <a:latin typeface="Calibri"/>
              </a:rPr>
              <a:t>OG 2</a:t>
            </a:r>
          </a:p>
        </p:txBody>
      </p:sp>
      <p:sp>
        <p:nvSpPr>
          <p:cNvPr id="29" name="TextBox 28"/>
          <p:cNvSpPr txBox="1"/>
          <p:nvPr/>
        </p:nvSpPr>
        <p:spPr>
          <a:xfrm>
            <a:off x="6996600" y="4284000"/>
            <a:ext cx="3504601" cy="251999"/>
          </a:xfrm>
          <a:prstGeom prst="rect">
            <a:avLst/>
          </a:prstGeom>
          <a:noFill/>
        </p:spPr>
        <p:txBody>
          <a:bodyPr wrap="square" lIns="0" rIns="0" tIns="0" bIns="0">
            <a:spAutoFit/>
          </a:bodyPr>
          <a:lstStyle/>
          <a:p>
            <a:pPr algn="l">
              <a:lnSpc>
                <a:spcPct val="125000"/>
              </a:lnSpc>
              <a:spcAft>
                <a:spcPts val="0"/>
              </a:spcAft>
            </a:pPr>
            <a:r>
              <a:rPr sz="1200" b="0" i="0">
                <a:solidFill>
                  <a:srgbClr val="2A2521"/>
                </a:solidFill>
                <a:latin typeface="Calibri"/>
              </a:rPr>
              <a:t>Revenue management et tarification dynamique</a:t>
            </a:r>
          </a:p>
        </p:txBody>
      </p:sp>
      <p:sp>
        <p:nvSpPr>
          <p:cNvPr id="30" name="TextBox 29"/>
          <p:cNvSpPr txBox="1"/>
          <p:nvPr/>
        </p:nvSpPr>
        <p:spPr>
          <a:xfrm>
            <a:off x="10537200" y="4284000"/>
            <a:ext cx="864000" cy="251999"/>
          </a:xfrm>
          <a:prstGeom prst="rect">
            <a:avLst/>
          </a:prstGeom>
          <a:noFill/>
        </p:spPr>
        <p:txBody>
          <a:bodyPr wrap="square" lIns="0" rIns="0" tIns="0" bIns="0">
            <a:spAutoFit/>
          </a:bodyPr>
          <a:lstStyle/>
          <a:p>
            <a:pPr algn="r">
              <a:lnSpc>
                <a:spcPct val="125000"/>
              </a:lnSpc>
              <a:spcAft>
                <a:spcPts val="0"/>
              </a:spcAft>
            </a:pPr>
            <a:r>
              <a:rPr sz="1000" b="0" i="0">
                <a:solidFill>
                  <a:srgbClr val="1E5631"/>
                </a:solidFill>
                <a:latin typeface="Calibri"/>
              </a:rPr>
              <a:t>catalogue</a:t>
            </a:r>
          </a:p>
        </p:txBody>
      </p:sp>
      <p:sp>
        <p:nvSpPr>
          <p:cNvPr id="31" name="Rectangle 30"/>
          <p:cNvSpPr/>
          <p:nvPr/>
        </p:nvSpPr>
        <p:spPr>
          <a:xfrm>
            <a:off x="792000" y="4777200"/>
            <a:ext cx="36000" cy="306000"/>
          </a:xfrm>
          <a:prstGeom prst="rect">
            <a:avLst/>
          </a:prstGeom>
          <a:solidFill>
            <a:srgbClr val="1E5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54000" y="4734000"/>
            <a:ext cx="576000" cy="251999"/>
          </a:xfrm>
          <a:prstGeom prst="rect">
            <a:avLst/>
          </a:prstGeom>
          <a:noFill/>
        </p:spPr>
        <p:txBody>
          <a:bodyPr wrap="square" lIns="0" rIns="0" tIns="0" bIns="0">
            <a:spAutoFit/>
          </a:bodyPr>
          <a:lstStyle/>
          <a:p>
            <a:pPr algn="l">
              <a:lnSpc>
                <a:spcPct val="125000"/>
              </a:lnSpc>
              <a:spcAft>
                <a:spcPts val="0"/>
              </a:spcAft>
            </a:pPr>
            <a:r>
              <a:rPr sz="1200" b="1" i="0">
                <a:solidFill>
                  <a:srgbClr val="1A1714"/>
                </a:solidFill>
                <a:latin typeface="Calibri"/>
              </a:rPr>
              <a:t>OG 3</a:t>
            </a:r>
          </a:p>
        </p:txBody>
      </p:sp>
      <p:sp>
        <p:nvSpPr>
          <p:cNvPr id="33" name="TextBox 32"/>
          <p:cNvSpPr txBox="1"/>
          <p:nvPr/>
        </p:nvSpPr>
        <p:spPr>
          <a:xfrm>
            <a:off x="1548000" y="4734000"/>
            <a:ext cx="3504601" cy="251999"/>
          </a:xfrm>
          <a:prstGeom prst="rect">
            <a:avLst/>
          </a:prstGeom>
          <a:noFill/>
        </p:spPr>
        <p:txBody>
          <a:bodyPr wrap="square" lIns="0" rIns="0" tIns="0" bIns="0">
            <a:spAutoFit/>
          </a:bodyPr>
          <a:lstStyle/>
          <a:p>
            <a:pPr algn="l">
              <a:lnSpc>
                <a:spcPct val="125000"/>
              </a:lnSpc>
              <a:spcAft>
                <a:spcPts val="0"/>
              </a:spcAft>
            </a:pPr>
            <a:r>
              <a:rPr sz="1200" b="0" i="0">
                <a:solidFill>
                  <a:srgbClr val="2A2521"/>
                </a:solidFill>
                <a:latin typeface="Calibri"/>
              </a:rPr>
              <a:t>Expérience voyageur et personnalisation</a:t>
            </a:r>
          </a:p>
        </p:txBody>
      </p:sp>
      <p:sp>
        <p:nvSpPr>
          <p:cNvPr id="34" name="TextBox 33"/>
          <p:cNvSpPr txBox="1"/>
          <p:nvPr/>
        </p:nvSpPr>
        <p:spPr>
          <a:xfrm>
            <a:off x="5088600" y="4734000"/>
            <a:ext cx="864000" cy="251999"/>
          </a:xfrm>
          <a:prstGeom prst="rect">
            <a:avLst/>
          </a:prstGeom>
          <a:noFill/>
        </p:spPr>
        <p:txBody>
          <a:bodyPr wrap="square" lIns="0" rIns="0" tIns="0" bIns="0">
            <a:spAutoFit/>
          </a:bodyPr>
          <a:lstStyle/>
          <a:p>
            <a:pPr algn="r">
              <a:lnSpc>
                <a:spcPct val="125000"/>
              </a:lnSpc>
              <a:spcAft>
                <a:spcPts val="0"/>
              </a:spcAft>
            </a:pPr>
            <a:r>
              <a:rPr sz="1000" b="0" i="0">
                <a:solidFill>
                  <a:srgbClr val="1E5631"/>
                </a:solidFill>
                <a:latin typeface="Calibri"/>
              </a:rPr>
              <a:t>catalogue</a:t>
            </a:r>
          </a:p>
        </p:txBody>
      </p:sp>
      <p:sp>
        <p:nvSpPr>
          <p:cNvPr id="35" name="Rectangle 34"/>
          <p:cNvSpPr/>
          <p:nvPr/>
        </p:nvSpPr>
        <p:spPr>
          <a:xfrm>
            <a:off x="6240600" y="4777200"/>
            <a:ext cx="36000" cy="306000"/>
          </a:xfrm>
          <a:prstGeom prst="rect">
            <a:avLst/>
          </a:prstGeom>
          <a:solidFill>
            <a:srgbClr val="1E5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2600" y="4734000"/>
            <a:ext cx="576000" cy="251999"/>
          </a:xfrm>
          <a:prstGeom prst="rect">
            <a:avLst/>
          </a:prstGeom>
          <a:noFill/>
        </p:spPr>
        <p:txBody>
          <a:bodyPr wrap="square" lIns="0" rIns="0" tIns="0" bIns="0">
            <a:spAutoFit/>
          </a:bodyPr>
          <a:lstStyle/>
          <a:p>
            <a:pPr algn="l">
              <a:lnSpc>
                <a:spcPct val="125000"/>
              </a:lnSpc>
              <a:spcAft>
                <a:spcPts val="0"/>
              </a:spcAft>
            </a:pPr>
            <a:r>
              <a:rPr sz="1200" b="1" i="0">
                <a:solidFill>
                  <a:srgbClr val="1A1714"/>
                </a:solidFill>
                <a:latin typeface="Calibri"/>
              </a:rPr>
              <a:t>OG 4</a:t>
            </a:r>
          </a:p>
        </p:txBody>
      </p:sp>
      <p:sp>
        <p:nvSpPr>
          <p:cNvPr id="37" name="TextBox 36"/>
          <p:cNvSpPr txBox="1"/>
          <p:nvPr/>
        </p:nvSpPr>
        <p:spPr>
          <a:xfrm>
            <a:off x="6996600" y="4734000"/>
            <a:ext cx="3504601" cy="251999"/>
          </a:xfrm>
          <a:prstGeom prst="rect">
            <a:avLst/>
          </a:prstGeom>
          <a:noFill/>
        </p:spPr>
        <p:txBody>
          <a:bodyPr wrap="square" lIns="0" rIns="0" tIns="0" bIns="0">
            <a:spAutoFit/>
          </a:bodyPr>
          <a:lstStyle/>
          <a:p>
            <a:pPr algn="l">
              <a:lnSpc>
                <a:spcPct val="125000"/>
              </a:lnSpc>
              <a:spcAft>
                <a:spcPts val="0"/>
              </a:spcAft>
            </a:pPr>
            <a:r>
              <a:rPr sz="1200" b="0" i="0">
                <a:solidFill>
                  <a:srgbClr val="2A2521"/>
                </a:solidFill>
                <a:latin typeface="Calibri"/>
              </a:rPr>
              <a:t>Marketing touristique augmenté</a:t>
            </a:r>
          </a:p>
        </p:txBody>
      </p:sp>
      <p:sp>
        <p:nvSpPr>
          <p:cNvPr id="38" name="TextBox 37"/>
          <p:cNvSpPr txBox="1"/>
          <p:nvPr/>
        </p:nvSpPr>
        <p:spPr>
          <a:xfrm>
            <a:off x="10537200" y="4734000"/>
            <a:ext cx="864000" cy="251999"/>
          </a:xfrm>
          <a:prstGeom prst="rect">
            <a:avLst/>
          </a:prstGeom>
          <a:noFill/>
        </p:spPr>
        <p:txBody>
          <a:bodyPr wrap="square" lIns="0" rIns="0" tIns="0" bIns="0">
            <a:spAutoFit/>
          </a:bodyPr>
          <a:lstStyle/>
          <a:p>
            <a:pPr algn="r">
              <a:lnSpc>
                <a:spcPct val="125000"/>
              </a:lnSpc>
              <a:spcAft>
                <a:spcPts val="0"/>
              </a:spcAft>
            </a:pPr>
            <a:r>
              <a:rPr sz="1000" b="0" i="0">
                <a:solidFill>
                  <a:srgbClr val="1E5631"/>
                </a:solidFill>
                <a:latin typeface="Calibri"/>
              </a:rPr>
              <a:t>catalogue</a:t>
            </a:r>
          </a:p>
        </p:txBody>
      </p:sp>
      <p:sp>
        <p:nvSpPr>
          <p:cNvPr id="39" name="Rectangle 38"/>
          <p:cNvSpPr/>
          <p:nvPr/>
        </p:nvSpPr>
        <p:spPr>
          <a:xfrm>
            <a:off x="792000" y="5227200"/>
            <a:ext cx="36000" cy="306000"/>
          </a:xfrm>
          <a:prstGeom prst="rect">
            <a:avLst/>
          </a:prstGeom>
          <a:solidFill>
            <a:srgbClr val="1E5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54000" y="5184000"/>
            <a:ext cx="576000" cy="251999"/>
          </a:xfrm>
          <a:prstGeom prst="rect">
            <a:avLst/>
          </a:prstGeom>
          <a:noFill/>
        </p:spPr>
        <p:txBody>
          <a:bodyPr wrap="square" lIns="0" rIns="0" tIns="0" bIns="0">
            <a:spAutoFit/>
          </a:bodyPr>
          <a:lstStyle/>
          <a:p>
            <a:pPr algn="l">
              <a:lnSpc>
                <a:spcPct val="125000"/>
              </a:lnSpc>
              <a:spcAft>
                <a:spcPts val="0"/>
              </a:spcAft>
            </a:pPr>
            <a:r>
              <a:rPr sz="1200" b="1" i="0">
                <a:solidFill>
                  <a:srgbClr val="1A1714"/>
                </a:solidFill>
                <a:latin typeface="Calibri"/>
              </a:rPr>
              <a:t>OG 5</a:t>
            </a:r>
          </a:p>
        </p:txBody>
      </p:sp>
      <p:sp>
        <p:nvSpPr>
          <p:cNvPr id="41" name="TextBox 40"/>
          <p:cNvSpPr txBox="1"/>
          <p:nvPr/>
        </p:nvSpPr>
        <p:spPr>
          <a:xfrm>
            <a:off x="1548000" y="5184000"/>
            <a:ext cx="3504601" cy="251999"/>
          </a:xfrm>
          <a:prstGeom prst="rect">
            <a:avLst/>
          </a:prstGeom>
          <a:noFill/>
        </p:spPr>
        <p:txBody>
          <a:bodyPr wrap="square" lIns="0" rIns="0" tIns="0" bIns="0">
            <a:spAutoFit/>
          </a:bodyPr>
          <a:lstStyle/>
          <a:p>
            <a:pPr algn="l">
              <a:lnSpc>
                <a:spcPct val="125000"/>
              </a:lnSpc>
              <a:spcAft>
                <a:spcPts val="0"/>
              </a:spcAft>
            </a:pPr>
            <a:r>
              <a:rPr sz="1200" b="0" i="0">
                <a:solidFill>
                  <a:srgbClr val="2A2521"/>
                </a:solidFill>
                <a:latin typeface="Calibri"/>
              </a:rPr>
              <a:t>Opérations et excellence de service</a:t>
            </a:r>
          </a:p>
        </p:txBody>
      </p:sp>
      <p:sp>
        <p:nvSpPr>
          <p:cNvPr id="42" name="TextBox 41"/>
          <p:cNvSpPr txBox="1"/>
          <p:nvPr/>
        </p:nvSpPr>
        <p:spPr>
          <a:xfrm>
            <a:off x="5088600" y="5184000"/>
            <a:ext cx="864000" cy="251999"/>
          </a:xfrm>
          <a:prstGeom prst="rect">
            <a:avLst/>
          </a:prstGeom>
          <a:noFill/>
        </p:spPr>
        <p:txBody>
          <a:bodyPr wrap="square" lIns="0" rIns="0" tIns="0" bIns="0">
            <a:spAutoFit/>
          </a:bodyPr>
          <a:lstStyle/>
          <a:p>
            <a:pPr algn="r">
              <a:lnSpc>
                <a:spcPct val="125000"/>
              </a:lnSpc>
              <a:spcAft>
                <a:spcPts val="0"/>
              </a:spcAft>
            </a:pPr>
            <a:r>
              <a:rPr sz="1000" b="0" i="0">
                <a:solidFill>
                  <a:srgbClr val="1E5631"/>
                </a:solidFill>
                <a:latin typeface="Calibri"/>
              </a:rPr>
              <a:t>catalogue</a:t>
            </a:r>
          </a:p>
        </p:txBody>
      </p:sp>
      <p:sp>
        <p:nvSpPr>
          <p:cNvPr id="43" name="Rectangle 42"/>
          <p:cNvSpPr/>
          <p:nvPr/>
        </p:nvSpPr>
        <p:spPr>
          <a:xfrm>
            <a:off x="6240600" y="5227200"/>
            <a:ext cx="36000" cy="306000"/>
          </a:xfrm>
          <a:prstGeom prst="rect">
            <a:avLst/>
          </a:prstGeom>
          <a:solidFill>
            <a:srgbClr val="F25C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02600" y="5184000"/>
            <a:ext cx="576000" cy="251999"/>
          </a:xfrm>
          <a:prstGeom prst="rect">
            <a:avLst/>
          </a:prstGeom>
          <a:noFill/>
        </p:spPr>
        <p:txBody>
          <a:bodyPr wrap="square" lIns="0" rIns="0" tIns="0" bIns="0">
            <a:spAutoFit/>
          </a:bodyPr>
          <a:lstStyle/>
          <a:p>
            <a:pPr algn="l">
              <a:lnSpc>
                <a:spcPct val="125000"/>
              </a:lnSpc>
              <a:spcAft>
                <a:spcPts val="0"/>
              </a:spcAft>
            </a:pPr>
            <a:r>
              <a:rPr sz="1200" b="1" i="0">
                <a:solidFill>
                  <a:srgbClr val="1A1714"/>
                </a:solidFill>
                <a:latin typeface="Calibri"/>
              </a:rPr>
              <a:t>OG 6</a:t>
            </a:r>
          </a:p>
        </p:txBody>
      </p:sp>
      <p:sp>
        <p:nvSpPr>
          <p:cNvPr id="45" name="TextBox 44"/>
          <p:cNvSpPr txBox="1"/>
          <p:nvPr/>
        </p:nvSpPr>
        <p:spPr>
          <a:xfrm>
            <a:off x="6996600" y="5184000"/>
            <a:ext cx="3504601" cy="251999"/>
          </a:xfrm>
          <a:prstGeom prst="rect">
            <a:avLst/>
          </a:prstGeom>
          <a:noFill/>
        </p:spPr>
        <p:txBody>
          <a:bodyPr wrap="square" lIns="0" rIns="0" tIns="0" bIns="0">
            <a:spAutoFit/>
          </a:bodyPr>
          <a:lstStyle/>
          <a:p>
            <a:pPr algn="l">
              <a:lnSpc>
                <a:spcPct val="125000"/>
              </a:lnSpc>
              <a:spcAft>
                <a:spcPts val="0"/>
              </a:spcAft>
            </a:pPr>
            <a:r>
              <a:rPr sz="1200" b="0" i="0">
                <a:solidFill>
                  <a:srgbClr val="2A2521"/>
                </a:solidFill>
                <a:latin typeface="Calibri"/>
              </a:rPr>
              <a:t>Construction du Plan d’Action IA</a:t>
            </a:r>
          </a:p>
        </p:txBody>
      </p:sp>
      <p:sp>
        <p:nvSpPr>
          <p:cNvPr id="46" name="TextBox 45"/>
          <p:cNvSpPr txBox="1"/>
          <p:nvPr/>
        </p:nvSpPr>
        <p:spPr>
          <a:xfrm>
            <a:off x="10537200" y="5184000"/>
            <a:ext cx="864000" cy="251999"/>
          </a:xfrm>
          <a:prstGeom prst="rect">
            <a:avLst/>
          </a:prstGeom>
          <a:noFill/>
        </p:spPr>
        <p:txBody>
          <a:bodyPr wrap="square" lIns="0" rIns="0" tIns="0" bIns="0">
            <a:spAutoFit/>
          </a:bodyPr>
          <a:lstStyle/>
          <a:p>
            <a:pPr algn="r">
              <a:lnSpc>
                <a:spcPct val="125000"/>
              </a:lnSpc>
              <a:spcAft>
                <a:spcPts val="0"/>
              </a:spcAft>
            </a:pPr>
            <a:r>
              <a:rPr sz="1000" b="0" i="0">
                <a:solidFill>
                  <a:srgbClr val="F25C05"/>
                </a:solidFill>
                <a:latin typeface="Calibri"/>
              </a:rPr>
              <a:t>ajouté</a:t>
            </a:r>
          </a:p>
        </p:txBody>
      </p:sp>
      <p:sp>
        <p:nvSpPr>
          <p:cNvPr id="47" name="TextBox 46"/>
          <p:cNvSpPr txBox="1"/>
          <p:nvPr/>
        </p:nvSpPr>
        <p:spPr>
          <a:xfrm>
            <a:off x="792000" y="6372000"/>
            <a:ext cx="9889200" cy="216000"/>
          </a:xfrm>
          <a:prstGeom prst="rect">
            <a:avLst/>
          </a:prstGeom>
          <a:noFill/>
        </p:spPr>
        <p:txBody>
          <a:bodyPr wrap="square" lIns="0" rIns="0" tIns="0" bIns="0">
            <a:spAutoFit/>
          </a:bodyPr>
          <a:lstStyle/>
          <a:p>
            <a:pPr algn="l">
              <a:lnSpc>
                <a:spcPct val="125000"/>
              </a:lnSpc>
              <a:spcAft>
                <a:spcPts val="0"/>
              </a:spcAft>
            </a:pPr>
            <a:r>
              <a:rPr sz="800" b="0" i="0">
                <a:solidFill>
                  <a:srgbClr val="6A635B"/>
                </a:solidFill>
                <a:latin typeface="Calibri"/>
              </a:rPr>
              <a:t>Mr Attractor  ·  proposition d’approche  ·  Sprint IA Tourisme et Loisirs</a:t>
            </a:r>
          </a:p>
        </p:txBody>
      </p:sp>
      <p:sp>
        <p:nvSpPr>
          <p:cNvPr id="48" name="TextBox 47"/>
          <p:cNvSpPr txBox="1"/>
          <p:nvPr/>
        </p:nvSpPr>
        <p:spPr>
          <a:xfrm>
            <a:off x="10681200" y="6372000"/>
            <a:ext cx="720000" cy="216000"/>
          </a:xfrm>
          <a:prstGeom prst="rect">
            <a:avLst/>
          </a:prstGeom>
          <a:noFill/>
        </p:spPr>
        <p:txBody>
          <a:bodyPr wrap="square" lIns="0" rIns="0" tIns="0" bIns="0">
            <a:spAutoFit/>
          </a:bodyPr>
          <a:lstStyle/>
          <a:p>
            <a:pPr algn="r">
              <a:lnSpc>
                <a:spcPct val="125000"/>
              </a:lnSpc>
              <a:spcAft>
                <a:spcPts val="0"/>
              </a:spcAft>
            </a:pPr>
            <a:r>
              <a:rPr sz="800" b="0" i="0">
                <a:solidFill>
                  <a:srgbClr val="6A635B"/>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FA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92000" y="540000"/>
            <a:ext cx="10609200" cy="288000"/>
          </a:xfrm>
          <a:prstGeom prst="rect">
            <a:avLst/>
          </a:prstGeom>
          <a:noFill/>
        </p:spPr>
        <p:txBody>
          <a:bodyPr wrap="square" lIns="0" rIns="0" tIns="0" bIns="0">
            <a:spAutoFit/>
          </a:bodyPr>
          <a:lstStyle/>
          <a:p>
            <a:pPr algn="l">
              <a:lnSpc>
                <a:spcPct val="125000"/>
              </a:lnSpc>
              <a:spcAft>
                <a:spcPts val="0"/>
              </a:spcAft>
            </a:pPr>
            <a:r>
              <a:rPr sz="1050" b="1" i="0">
                <a:solidFill>
                  <a:srgbClr val="F25C05"/>
                </a:solidFill>
                <a:latin typeface="Calibri"/>
              </a:rPr>
              <a:t>DEUX POINTS DE VOTRE GABARIT</a:t>
            </a:r>
          </a:p>
        </p:txBody>
      </p:sp>
      <p:sp>
        <p:nvSpPr>
          <p:cNvPr id="4" name="TextBox 3"/>
          <p:cNvSpPr txBox="1"/>
          <p:nvPr/>
        </p:nvSpPr>
        <p:spPr>
          <a:xfrm>
            <a:off x="792000" y="810000"/>
            <a:ext cx="10609200" cy="720000"/>
          </a:xfrm>
          <a:prstGeom prst="rect">
            <a:avLst/>
          </a:prstGeom>
          <a:noFill/>
        </p:spPr>
        <p:txBody>
          <a:bodyPr wrap="square" lIns="0" rIns="0" tIns="0" bIns="0">
            <a:spAutoFit/>
          </a:bodyPr>
          <a:lstStyle/>
          <a:p>
            <a:pPr algn="l">
              <a:lnSpc>
                <a:spcPct val="110000"/>
              </a:lnSpc>
              <a:spcAft>
                <a:spcPts val="0"/>
              </a:spcAft>
            </a:pPr>
            <a:r>
              <a:rPr sz="2600" b="1" i="0">
                <a:solidFill>
                  <a:srgbClr val="1A1714"/>
                </a:solidFill>
                <a:latin typeface="Calibri"/>
              </a:rPr>
              <a:t>À arbitrer avant que le comité ne se prononce</a:t>
            </a:r>
          </a:p>
        </p:txBody>
      </p:sp>
      <p:sp>
        <p:nvSpPr>
          <p:cNvPr id="5" name="Rectangle 4"/>
          <p:cNvSpPr/>
          <p:nvPr/>
        </p:nvSpPr>
        <p:spPr>
          <a:xfrm>
            <a:off x="792000" y="1278000"/>
            <a:ext cx="1224000" cy="36000"/>
          </a:xfrm>
          <a:prstGeom prst="rect">
            <a:avLst/>
          </a:prstGeom>
          <a:solidFill>
            <a:srgbClr val="F25C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92000" y="1728000"/>
            <a:ext cx="5124600" cy="3606670"/>
          </a:xfrm>
          <a:prstGeom prst="roundRect">
            <a:avLst>
              <a:gd name="adj" fmla="val 4000"/>
            </a:avLst>
          </a:prstGeom>
          <a:solidFill>
            <a:srgbClr val="FFFFFF"/>
          </a:solidFill>
          <a:ln w="9525">
            <a:solidFill>
              <a:srgbClr val="E7E1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92000" y="1728000"/>
            <a:ext cx="5124600" cy="36000"/>
          </a:xfrm>
          <a:prstGeom prst="rect">
            <a:avLst/>
          </a:prstGeom>
          <a:solidFill>
            <a:srgbClr val="F25C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6000" y="2016000"/>
            <a:ext cx="1080000" cy="534924"/>
          </a:xfrm>
          <a:prstGeom prst="rect">
            <a:avLst/>
          </a:prstGeom>
          <a:noFill/>
        </p:spPr>
        <p:txBody>
          <a:bodyPr wrap="square" lIns="0" rIns="0" tIns="0" bIns="0">
            <a:spAutoFit/>
          </a:bodyPr>
          <a:lstStyle/>
          <a:p>
            <a:pPr algn="l">
              <a:lnSpc>
                <a:spcPct val="125000"/>
              </a:lnSpc>
              <a:spcAft>
                <a:spcPts val="0"/>
              </a:spcAft>
            </a:pPr>
            <a:r>
              <a:rPr sz="2600" b="1" i="0">
                <a:solidFill>
                  <a:srgbClr val="F25C05"/>
                </a:solidFill>
                <a:latin typeface="Calibri"/>
              </a:rPr>
              <a:t>01</a:t>
            </a:r>
          </a:p>
        </p:txBody>
      </p:sp>
      <p:sp>
        <p:nvSpPr>
          <p:cNvPr id="9" name="TextBox 8"/>
          <p:cNvSpPr txBox="1"/>
          <p:nvPr/>
        </p:nvSpPr>
        <p:spPr>
          <a:xfrm>
            <a:off x="1116000" y="2694924"/>
            <a:ext cx="4476600" cy="592531"/>
          </a:xfrm>
          <a:prstGeom prst="rect">
            <a:avLst/>
          </a:prstGeom>
          <a:noFill/>
        </p:spPr>
        <p:txBody>
          <a:bodyPr wrap="square" lIns="0" rIns="0" tIns="0" bIns="0">
            <a:spAutoFit/>
          </a:bodyPr>
          <a:lstStyle/>
          <a:p>
            <a:pPr algn="l">
              <a:lnSpc>
                <a:spcPct val="120000"/>
              </a:lnSpc>
              <a:spcAft>
                <a:spcPts val="0"/>
              </a:spcAft>
            </a:pPr>
            <a:r>
              <a:rPr sz="1500" b="1" i="0">
                <a:solidFill>
                  <a:srgbClr val="1A1714"/>
                </a:solidFill>
                <a:latin typeface="Calibri"/>
              </a:rPr>
              <a:t>Quel barème s’applique à un format de deux jours en ligne ?</a:t>
            </a:r>
          </a:p>
        </p:txBody>
      </p:sp>
      <p:sp>
        <p:nvSpPr>
          <p:cNvPr id="10" name="TextBox 9"/>
          <p:cNvSpPr txBox="1"/>
          <p:nvPr/>
        </p:nvSpPr>
        <p:spPr>
          <a:xfrm>
            <a:off x="1116000" y="3449455"/>
            <a:ext cx="4476600" cy="1754139"/>
          </a:xfrm>
          <a:prstGeom prst="rect">
            <a:avLst/>
          </a:prstGeom>
          <a:noFill/>
        </p:spPr>
        <p:txBody>
          <a:bodyPr wrap="square" lIns="0" rIns="0" tIns="0" bIns="0">
            <a:spAutoFit/>
          </a:bodyPr>
          <a:lstStyle/>
          <a:p>
            <a:pPr algn="l">
              <a:lnSpc>
                <a:spcPct val="145000"/>
              </a:lnSpc>
              <a:spcAft>
                <a:spcPts val="0"/>
              </a:spcAft>
            </a:pPr>
            <a:r>
              <a:rPr sz="1050" b="0" i="0">
                <a:solidFill>
                  <a:srgbClr val="2A2521"/>
                </a:solidFill>
                <a:latin typeface="Calibri"/>
              </a:rPr>
              <a:t>Votre grille cadre trois formats : 3 heures en salle ou webinaire, 7 heures en salle, 2 jours en salle. Le seul format à distance qu’elle prévoit est le webinaire de 3 heures, or le Sprint est annoncé sur 2 jours à 100 % en ligne.</a:t>
            </a:r>
          </a:p>
          <a:p>
            <a:pPr algn="l">
              <a:lnSpc>
                <a:spcPct val="145000"/>
              </a:lnSpc>
              <a:spcAft>
                <a:spcPts val="0"/>
              </a:spcAft>
            </a:pPr>
            <a:r>
              <a:rPr sz="1050" b="0" i="0">
                <a:solidFill>
                  <a:srgbClr val="2A2521"/>
                </a:solidFill>
                <a:latin typeface="Calibri"/>
              </a:rPr>
              <a:t/>
            </a:r>
          </a:p>
          <a:p>
            <a:pPr algn="l">
              <a:lnSpc>
                <a:spcPct val="145000"/>
              </a:lnSpc>
              <a:spcAft>
                <a:spcPts val="0"/>
              </a:spcAft>
            </a:pPr>
            <a:r>
              <a:rPr sz="1050" b="0" i="0">
                <a:solidFill>
                  <a:srgbClr val="2A2521"/>
                </a:solidFill>
                <a:latin typeface="Calibri"/>
              </a:rPr>
              <a:t>Le plan joint applique par précaution le barème des 2 jours. Une confirmation évite une reprise complète.</a:t>
            </a:r>
          </a:p>
        </p:txBody>
      </p:sp>
      <p:sp>
        <p:nvSpPr>
          <p:cNvPr id="11" name="Rounded Rectangle 10"/>
          <p:cNvSpPr/>
          <p:nvPr/>
        </p:nvSpPr>
        <p:spPr>
          <a:xfrm>
            <a:off x="6276600" y="1728000"/>
            <a:ext cx="5124600" cy="3606670"/>
          </a:xfrm>
          <a:prstGeom prst="roundRect">
            <a:avLst>
              <a:gd name="adj" fmla="val 4000"/>
            </a:avLst>
          </a:prstGeom>
          <a:solidFill>
            <a:srgbClr val="FFFFFF"/>
          </a:solidFill>
          <a:ln w="9525">
            <a:solidFill>
              <a:srgbClr val="E7E1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76600" y="1728000"/>
            <a:ext cx="5124600" cy="36000"/>
          </a:xfrm>
          <a:prstGeom prst="rect">
            <a:avLst/>
          </a:prstGeom>
          <a:solidFill>
            <a:srgbClr val="F25C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00600" y="2016000"/>
            <a:ext cx="1080000" cy="534924"/>
          </a:xfrm>
          <a:prstGeom prst="rect">
            <a:avLst/>
          </a:prstGeom>
          <a:noFill/>
        </p:spPr>
        <p:txBody>
          <a:bodyPr wrap="square" lIns="0" rIns="0" tIns="0" bIns="0">
            <a:spAutoFit/>
          </a:bodyPr>
          <a:lstStyle/>
          <a:p>
            <a:pPr algn="l">
              <a:lnSpc>
                <a:spcPct val="125000"/>
              </a:lnSpc>
              <a:spcAft>
                <a:spcPts val="0"/>
              </a:spcAft>
            </a:pPr>
            <a:r>
              <a:rPr sz="2600" b="1" i="0">
                <a:solidFill>
                  <a:srgbClr val="F25C05"/>
                </a:solidFill>
                <a:latin typeface="Calibri"/>
              </a:rPr>
              <a:t>02</a:t>
            </a:r>
          </a:p>
        </p:txBody>
      </p:sp>
      <p:sp>
        <p:nvSpPr>
          <p:cNvPr id="14" name="TextBox 13"/>
          <p:cNvSpPr txBox="1"/>
          <p:nvPr/>
        </p:nvSpPr>
        <p:spPr>
          <a:xfrm>
            <a:off x="6600600" y="2694924"/>
            <a:ext cx="4476600" cy="296265"/>
          </a:xfrm>
          <a:prstGeom prst="rect">
            <a:avLst/>
          </a:prstGeom>
          <a:noFill/>
        </p:spPr>
        <p:txBody>
          <a:bodyPr wrap="square" lIns="0" rIns="0" tIns="0" bIns="0">
            <a:spAutoFit/>
          </a:bodyPr>
          <a:lstStyle/>
          <a:p>
            <a:pPr algn="l">
              <a:lnSpc>
                <a:spcPct val="120000"/>
              </a:lnSpc>
              <a:spcAft>
                <a:spcPts val="0"/>
              </a:spcAft>
            </a:pPr>
            <a:r>
              <a:rPr sz="1500" b="1" i="0">
                <a:solidFill>
                  <a:srgbClr val="1A1714"/>
                </a:solidFill>
                <a:latin typeface="Calibri"/>
              </a:rPr>
              <a:t>Combien d’objectifs généraux attendez-vous ?</a:t>
            </a:r>
          </a:p>
        </p:txBody>
      </p:sp>
      <p:sp>
        <p:nvSpPr>
          <p:cNvPr id="15" name="TextBox 14"/>
          <p:cNvSpPr txBox="1"/>
          <p:nvPr/>
        </p:nvSpPr>
        <p:spPr>
          <a:xfrm>
            <a:off x="6600600" y="3153189"/>
            <a:ext cx="4476600" cy="1503547"/>
          </a:xfrm>
          <a:prstGeom prst="rect">
            <a:avLst/>
          </a:prstGeom>
          <a:noFill/>
        </p:spPr>
        <p:txBody>
          <a:bodyPr wrap="square" lIns="0" rIns="0" tIns="0" bIns="0">
            <a:spAutoFit/>
          </a:bodyPr>
          <a:lstStyle/>
          <a:p>
            <a:pPr algn="l">
              <a:lnSpc>
                <a:spcPct val="145000"/>
              </a:lnSpc>
              <a:spcAft>
                <a:spcPts val="0"/>
              </a:spcAft>
            </a:pPr>
            <a:r>
              <a:rPr sz="1050" b="0" i="0">
                <a:solidFill>
                  <a:srgbClr val="2A2521"/>
                </a:solidFill>
                <a:latin typeface="Calibri"/>
              </a:rPr>
              <a:t>La grille de critères demande au moins 4 objectifs généraux pour une formation de deux jours. La section « TRUCS et astuces » du même document suggère d’en rédiger deux ou trois.</a:t>
            </a:r>
          </a:p>
          <a:p>
            <a:pPr algn="l">
              <a:lnSpc>
                <a:spcPct val="145000"/>
              </a:lnSpc>
              <a:spcAft>
                <a:spcPts val="0"/>
              </a:spcAft>
            </a:pPr>
            <a:r>
              <a:rPr sz="1050" b="0" i="0">
                <a:solidFill>
                  <a:srgbClr val="2A2521"/>
                </a:solidFill>
                <a:latin typeface="Calibri"/>
              </a:rPr>
              <a:t/>
            </a:r>
          </a:p>
          <a:p>
            <a:pPr algn="l">
              <a:lnSpc>
                <a:spcPct val="145000"/>
              </a:lnSpc>
              <a:spcAft>
                <a:spcPts val="0"/>
              </a:spcAft>
            </a:pPr>
            <a:r>
              <a:rPr sz="1050" b="0" i="0">
                <a:solidFill>
                  <a:srgbClr val="2A2521"/>
                </a:solidFill>
                <a:latin typeface="Calibri"/>
              </a:rPr>
              <a:t>Le plan joint suit la grille et en comporte 6. Nous préférons poser la question maintenant plutôt que la voir revenir à la validation.</a:t>
            </a:r>
          </a:p>
        </p:txBody>
      </p:sp>
      <p:sp>
        <p:nvSpPr>
          <p:cNvPr id="16" name="Rounded Rectangle 15"/>
          <p:cNvSpPr/>
          <p:nvPr/>
        </p:nvSpPr>
        <p:spPr>
          <a:xfrm>
            <a:off x="792000" y="5550670"/>
            <a:ext cx="10609200" cy="612036"/>
          </a:xfrm>
          <a:prstGeom prst="roundRect">
            <a:avLst>
              <a:gd name="adj" fmla="val 4000"/>
            </a:avLst>
          </a:prstGeom>
          <a:solidFill>
            <a:srgbClr val="E7E1D8"/>
          </a:solidFill>
          <a:ln w="9525">
            <a:solidFill>
              <a:srgbClr val="E7E1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116000" y="5730670"/>
            <a:ext cx="9961200" cy="288036"/>
          </a:xfrm>
          <a:prstGeom prst="rect">
            <a:avLst/>
          </a:prstGeom>
          <a:noFill/>
        </p:spPr>
        <p:txBody>
          <a:bodyPr wrap="square" lIns="0" rIns="0" tIns="0" bIns="0">
            <a:spAutoFit/>
          </a:bodyPr>
          <a:lstStyle/>
          <a:p>
            <a:pPr algn="l">
              <a:lnSpc>
                <a:spcPct val="140000"/>
              </a:lnSpc>
              <a:spcAft>
                <a:spcPts val="0"/>
              </a:spcAft>
            </a:pPr>
            <a:r>
              <a:rPr sz="1250" b="0" i="0">
                <a:solidFill>
                  <a:srgbClr val="2A2521"/>
                </a:solidFill>
                <a:latin typeface="Calibri"/>
              </a:rPr>
              <a:t>Troisième question, de calendrier : combien d’allers-retours de validation sont prévus, et sous quel délai ?</a:t>
            </a:r>
          </a:p>
        </p:txBody>
      </p:sp>
      <p:sp>
        <p:nvSpPr>
          <p:cNvPr id="18" name="TextBox 17"/>
          <p:cNvSpPr txBox="1"/>
          <p:nvPr/>
        </p:nvSpPr>
        <p:spPr>
          <a:xfrm>
            <a:off x="792000" y="6372000"/>
            <a:ext cx="9889200" cy="216000"/>
          </a:xfrm>
          <a:prstGeom prst="rect">
            <a:avLst/>
          </a:prstGeom>
          <a:noFill/>
        </p:spPr>
        <p:txBody>
          <a:bodyPr wrap="square" lIns="0" rIns="0" tIns="0" bIns="0">
            <a:spAutoFit/>
          </a:bodyPr>
          <a:lstStyle/>
          <a:p>
            <a:pPr algn="l">
              <a:lnSpc>
                <a:spcPct val="125000"/>
              </a:lnSpc>
              <a:spcAft>
                <a:spcPts val="0"/>
              </a:spcAft>
            </a:pPr>
            <a:r>
              <a:rPr sz="800" b="0" i="0">
                <a:solidFill>
                  <a:srgbClr val="6A635B"/>
                </a:solidFill>
                <a:latin typeface="Calibri"/>
              </a:rPr>
              <a:t>Mr Attractor  ·  proposition d’approche  ·  Sprint IA Tourisme et Loisirs</a:t>
            </a:r>
          </a:p>
        </p:txBody>
      </p:sp>
      <p:sp>
        <p:nvSpPr>
          <p:cNvPr id="19" name="TextBox 18"/>
          <p:cNvSpPr txBox="1"/>
          <p:nvPr/>
        </p:nvSpPr>
        <p:spPr>
          <a:xfrm>
            <a:off x="10681200" y="6372000"/>
            <a:ext cx="720000" cy="216000"/>
          </a:xfrm>
          <a:prstGeom prst="rect">
            <a:avLst/>
          </a:prstGeom>
          <a:noFill/>
        </p:spPr>
        <p:txBody>
          <a:bodyPr wrap="square" lIns="0" rIns="0" tIns="0" bIns="0">
            <a:spAutoFit/>
          </a:bodyPr>
          <a:lstStyle/>
          <a:p>
            <a:pPr algn="r">
              <a:lnSpc>
                <a:spcPct val="125000"/>
              </a:lnSpc>
              <a:spcAft>
                <a:spcPts val="0"/>
              </a:spcAft>
            </a:pPr>
            <a:r>
              <a:rPr sz="800" b="0" i="0">
                <a:solidFill>
                  <a:srgbClr val="6A635B"/>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FA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92000" y="540000"/>
            <a:ext cx="10609200" cy="288000"/>
          </a:xfrm>
          <a:prstGeom prst="rect">
            <a:avLst/>
          </a:prstGeom>
          <a:noFill/>
        </p:spPr>
        <p:txBody>
          <a:bodyPr wrap="square" lIns="0" rIns="0" tIns="0" bIns="0">
            <a:spAutoFit/>
          </a:bodyPr>
          <a:lstStyle/>
          <a:p>
            <a:pPr algn="l">
              <a:lnSpc>
                <a:spcPct val="125000"/>
              </a:lnSpc>
              <a:spcAft>
                <a:spcPts val="0"/>
              </a:spcAft>
            </a:pPr>
            <a:r>
              <a:rPr sz="1050" b="1" i="0">
                <a:solidFill>
                  <a:srgbClr val="F25C05"/>
                </a:solidFill>
                <a:latin typeface="Calibri"/>
              </a:rPr>
              <a:t>CE QUE L’APPROCHE DEMANDE DE VOTRE CÔTÉ</a:t>
            </a:r>
          </a:p>
        </p:txBody>
      </p:sp>
      <p:sp>
        <p:nvSpPr>
          <p:cNvPr id="4" name="TextBox 3"/>
          <p:cNvSpPr txBox="1"/>
          <p:nvPr/>
        </p:nvSpPr>
        <p:spPr>
          <a:xfrm>
            <a:off x="792000" y="810000"/>
            <a:ext cx="10609200" cy="720000"/>
          </a:xfrm>
          <a:prstGeom prst="rect">
            <a:avLst/>
          </a:prstGeom>
          <a:noFill/>
        </p:spPr>
        <p:txBody>
          <a:bodyPr wrap="square" lIns="0" rIns="0" tIns="0" bIns="0">
            <a:spAutoFit/>
          </a:bodyPr>
          <a:lstStyle/>
          <a:p>
            <a:pPr algn="l">
              <a:lnSpc>
                <a:spcPct val="110000"/>
              </a:lnSpc>
              <a:spcAft>
                <a:spcPts val="0"/>
              </a:spcAft>
            </a:pPr>
            <a:r>
              <a:rPr sz="2600" b="1" i="0">
                <a:solidFill>
                  <a:srgbClr val="1A1714"/>
                </a:solidFill>
                <a:latin typeface="Calibri"/>
              </a:rPr>
              <a:t>Trois conditions, aucune n’est coûteuse</a:t>
            </a:r>
          </a:p>
        </p:txBody>
      </p:sp>
      <p:sp>
        <p:nvSpPr>
          <p:cNvPr id="5" name="Rectangle 4"/>
          <p:cNvSpPr/>
          <p:nvPr/>
        </p:nvSpPr>
        <p:spPr>
          <a:xfrm>
            <a:off x="792000" y="1278000"/>
            <a:ext cx="1224000" cy="36000"/>
          </a:xfrm>
          <a:prstGeom prst="rect">
            <a:avLst/>
          </a:prstGeom>
          <a:solidFill>
            <a:srgbClr val="F25C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92000" y="1872000"/>
            <a:ext cx="10609200" cy="1152000"/>
          </a:xfrm>
          <a:prstGeom prst="roundRect">
            <a:avLst>
              <a:gd name="adj" fmla="val 4000"/>
            </a:avLst>
          </a:prstGeom>
          <a:solidFill>
            <a:srgbClr val="FFFFFF"/>
          </a:solidFill>
          <a:ln w="9525">
            <a:solidFill>
              <a:srgbClr val="E7E1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92000" y="1872000"/>
            <a:ext cx="43200" cy="1152000"/>
          </a:xfrm>
          <a:prstGeom prst="rect">
            <a:avLst/>
          </a:prstGeom>
          <a:solidFill>
            <a:srgbClr val="F25C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16000" y="2232000"/>
            <a:ext cx="432000" cy="432000"/>
          </a:xfrm>
          <a:prstGeom prst="ellipse">
            <a:avLst/>
          </a:prstGeom>
          <a:solidFill>
            <a:srgbClr val="F25C0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FFFFFF"/>
                </a:solidFill>
                <a:latin typeface="Calibri"/>
              </a:rPr>
              <a:t>1</a:t>
            </a:r>
          </a:p>
        </p:txBody>
      </p:sp>
      <p:sp>
        <p:nvSpPr>
          <p:cNvPr id="9" name="TextBox 8"/>
          <p:cNvSpPr txBox="1"/>
          <p:nvPr/>
        </p:nvSpPr>
        <p:spPr>
          <a:xfrm>
            <a:off x="1764000" y="2123999"/>
            <a:ext cx="9313200" cy="324000"/>
          </a:xfrm>
          <a:prstGeom prst="rect">
            <a:avLst/>
          </a:prstGeom>
          <a:noFill/>
        </p:spPr>
        <p:txBody>
          <a:bodyPr wrap="square" lIns="0" rIns="0" tIns="0" bIns="0">
            <a:spAutoFit/>
          </a:bodyPr>
          <a:lstStyle/>
          <a:p>
            <a:pPr algn="l">
              <a:lnSpc>
                <a:spcPct val="125000"/>
              </a:lnSpc>
              <a:spcAft>
                <a:spcPts val="0"/>
              </a:spcAft>
            </a:pPr>
            <a:r>
              <a:rPr sz="1600" b="1" i="0">
                <a:solidFill>
                  <a:srgbClr val="1A1714"/>
                </a:solidFill>
                <a:latin typeface="Calibri"/>
              </a:rPr>
              <a:t>Le lien de relevé part avec la confirmation d’inscription</a:t>
            </a:r>
          </a:p>
        </p:txBody>
      </p:sp>
      <p:sp>
        <p:nvSpPr>
          <p:cNvPr id="10" name="TextBox 9"/>
          <p:cNvSpPr txBox="1"/>
          <p:nvPr/>
        </p:nvSpPr>
        <p:spPr>
          <a:xfrm>
            <a:off x="1764000" y="2484000"/>
            <a:ext cx="9313200" cy="468000"/>
          </a:xfrm>
          <a:prstGeom prst="rect">
            <a:avLst/>
          </a:prstGeom>
          <a:noFill/>
        </p:spPr>
        <p:txBody>
          <a:bodyPr wrap="square" lIns="0" rIns="0" tIns="0" bIns="0">
            <a:spAutoFit/>
          </a:bodyPr>
          <a:lstStyle/>
          <a:p>
            <a:pPr algn="l">
              <a:lnSpc>
                <a:spcPct val="145000"/>
              </a:lnSpc>
              <a:spcAft>
                <a:spcPts val="0"/>
              </a:spcAft>
            </a:pPr>
            <a:r>
              <a:rPr sz="1250" b="0" i="0">
                <a:solidFill>
                  <a:srgbClr val="2A2521"/>
                </a:solidFill>
                <a:latin typeface="Calibri"/>
              </a:rPr>
              <a:t>C’est la seule contrainte réelle. Le participant doit disposer d’une à deux semaines pour réunir ses douze mois de données. Sans ce délai, la première demi-journée se passe à saisir au lieu de travailler.</a:t>
            </a:r>
          </a:p>
        </p:txBody>
      </p:sp>
      <p:sp>
        <p:nvSpPr>
          <p:cNvPr id="11" name="Rounded Rectangle 10"/>
          <p:cNvSpPr/>
          <p:nvPr/>
        </p:nvSpPr>
        <p:spPr>
          <a:xfrm>
            <a:off x="792000" y="3168000"/>
            <a:ext cx="10609200" cy="1152000"/>
          </a:xfrm>
          <a:prstGeom prst="roundRect">
            <a:avLst>
              <a:gd name="adj" fmla="val 4000"/>
            </a:avLst>
          </a:prstGeom>
          <a:solidFill>
            <a:srgbClr val="FFFFFF"/>
          </a:solidFill>
          <a:ln w="9525">
            <a:solidFill>
              <a:srgbClr val="E7E1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92000" y="3168000"/>
            <a:ext cx="43200" cy="1152000"/>
          </a:xfrm>
          <a:prstGeom prst="rect">
            <a:avLst/>
          </a:prstGeom>
          <a:solidFill>
            <a:srgbClr val="1E5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16000" y="3528000"/>
            <a:ext cx="432000" cy="432000"/>
          </a:xfrm>
          <a:prstGeom prst="ellipse">
            <a:avLst/>
          </a:prstGeom>
          <a:solidFill>
            <a:srgbClr val="1E5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FFFFFF"/>
                </a:solidFill>
                <a:latin typeface="Calibri"/>
              </a:rPr>
              <a:t>2</a:t>
            </a:r>
          </a:p>
        </p:txBody>
      </p:sp>
      <p:sp>
        <p:nvSpPr>
          <p:cNvPr id="14" name="TextBox 13"/>
          <p:cNvSpPr txBox="1"/>
          <p:nvPr/>
        </p:nvSpPr>
        <p:spPr>
          <a:xfrm>
            <a:off x="1764000" y="3419999"/>
            <a:ext cx="9313200" cy="324000"/>
          </a:xfrm>
          <a:prstGeom prst="rect">
            <a:avLst/>
          </a:prstGeom>
          <a:noFill/>
        </p:spPr>
        <p:txBody>
          <a:bodyPr wrap="square" lIns="0" rIns="0" tIns="0" bIns="0">
            <a:spAutoFit/>
          </a:bodyPr>
          <a:lstStyle/>
          <a:p>
            <a:pPr algn="l">
              <a:lnSpc>
                <a:spcPct val="125000"/>
              </a:lnSpc>
              <a:spcAft>
                <a:spcPts val="0"/>
              </a:spcAft>
            </a:pPr>
            <a:r>
              <a:rPr sz="1600" b="1" i="0">
                <a:solidFill>
                  <a:srgbClr val="1A1714"/>
                </a:solidFill>
                <a:latin typeface="Calibri"/>
              </a:rPr>
              <a:t>Un nombre minimum de participants pour tenir une session</a:t>
            </a:r>
          </a:p>
        </p:txBody>
      </p:sp>
      <p:sp>
        <p:nvSpPr>
          <p:cNvPr id="15" name="TextBox 14"/>
          <p:cNvSpPr txBox="1"/>
          <p:nvPr/>
        </p:nvSpPr>
        <p:spPr>
          <a:xfrm>
            <a:off x="1764000" y="3780000"/>
            <a:ext cx="9313200" cy="468000"/>
          </a:xfrm>
          <a:prstGeom prst="rect">
            <a:avLst/>
          </a:prstGeom>
          <a:noFill/>
        </p:spPr>
        <p:txBody>
          <a:bodyPr wrap="square" lIns="0" rIns="0" tIns="0" bIns="0">
            <a:spAutoFit/>
          </a:bodyPr>
          <a:lstStyle/>
          <a:p>
            <a:pPr algn="l">
              <a:lnSpc>
                <a:spcPct val="145000"/>
              </a:lnSpc>
              <a:spcAft>
                <a:spcPts val="0"/>
              </a:spcAft>
            </a:pPr>
            <a:r>
              <a:rPr sz="1250" b="0" i="0">
                <a:solidFill>
                  <a:srgbClr val="2A2521"/>
                </a:solidFill>
                <a:latin typeface="Calibri"/>
              </a:rPr>
              <a:t>L’approche demande une préparation individualisée des diagnostics avant chaque session. Un plancher, quel qu’il soit, permet de la caler.</a:t>
            </a:r>
          </a:p>
        </p:txBody>
      </p:sp>
      <p:sp>
        <p:nvSpPr>
          <p:cNvPr id="16" name="Rounded Rectangle 15"/>
          <p:cNvSpPr/>
          <p:nvPr/>
        </p:nvSpPr>
        <p:spPr>
          <a:xfrm>
            <a:off x="792000" y="4464000"/>
            <a:ext cx="10609200" cy="1152000"/>
          </a:xfrm>
          <a:prstGeom prst="roundRect">
            <a:avLst>
              <a:gd name="adj" fmla="val 4000"/>
            </a:avLst>
          </a:prstGeom>
          <a:solidFill>
            <a:srgbClr val="FFFFFF"/>
          </a:solidFill>
          <a:ln w="9525">
            <a:solidFill>
              <a:srgbClr val="E7E1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92000" y="4464000"/>
            <a:ext cx="43200" cy="1152000"/>
          </a:xfrm>
          <a:prstGeom prst="rect">
            <a:avLst/>
          </a:prstGeom>
          <a:solidFill>
            <a:srgbClr val="1E5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16000" y="4824000"/>
            <a:ext cx="432000" cy="432000"/>
          </a:xfrm>
          <a:prstGeom prst="ellipse">
            <a:avLst/>
          </a:prstGeom>
          <a:solidFill>
            <a:srgbClr val="1E563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FFFFFF"/>
                </a:solidFill>
                <a:latin typeface="Calibri"/>
              </a:rPr>
              <a:t>3</a:t>
            </a:r>
          </a:p>
        </p:txBody>
      </p:sp>
      <p:sp>
        <p:nvSpPr>
          <p:cNvPr id="19" name="TextBox 18"/>
          <p:cNvSpPr txBox="1"/>
          <p:nvPr/>
        </p:nvSpPr>
        <p:spPr>
          <a:xfrm>
            <a:off x="1764000" y="4715999"/>
            <a:ext cx="9313200" cy="324000"/>
          </a:xfrm>
          <a:prstGeom prst="rect">
            <a:avLst/>
          </a:prstGeom>
          <a:noFill/>
        </p:spPr>
        <p:txBody>
          <a:bodyPr wrap="square" lIns="0" rIns="0" tIns="0" bIns="0">
            <a:spAutoFit/>
          </a:bodyPr>
          <a:lstStyle/>
          <a:p>
            <a:pPr algn="l">
              <a:lnSpc>
                <a:spcPct val="125000"/>
              </a:lnSpc>
              <a:spcAft>
                <a:spcPts val="0"/>
              </a:spcAft>
            </a:pPr>
            <a:r>
              <a:rPr sz="1600" b="1" i="0">
                <a:solidFill>
                  <a:srgbClr val="1A1714"/>
                </a:solidFill>
                <a:latin typeface="Calibri"/>
              </a:rPr>
              <a:t>Un point sur l’économie du partenariat, de vive voix</a:t>
            </a:r>
          </a:p>
        </p:txBody>
      </p:sp>
      <p:sp>
        <p:nvSpPr>
          <p:cNvPr id="20" name="TextBox 19"/>
          <p:cNvSpPr txBox="1"/>
          <p:nvPr/>
        </p:nvSpPr>
        <p:spPr>
          <a:xfrm>
            <a:off x="1764000" y="5076000"/>
            <a:ext cx="9313200" cy="468000"/>
          </a:xfrm>
          <a:prstGeom prst="rect">
            <a:avLst/>
          </a:prstGeom>
          <a:noFill/>
        </p:spPr>
        <p:txBody>
          <a:bodyPr wrap="square" lIns="0" rIns="0" tIns="0" bIns="0">
            <a:spAutoFit/>
          </a:bodyPr>
          <a:lstStyle/>
          <a:p>
            <a:pPr algn="l">
              <a:lnSpc>
                <a:spcPct val="145000"/>
              </a:lnSpc>
              <a:spcAft>
                <a:spcPts val="0"/>
              </a:spcAft>
            </a:pPr>
            <a:r>
              <a:rPr sz="1250" b="0" i="0">
                <a:solidFill>
                  <a:srgbClr val="2A2521"/>
                </a:solidFill>
                <a:latin typeface="Calibri"/>
              </a:rPr>
              <a:t>Le sujet n’est pas traité dans ce document, volontairement. Il mérite une conversation, et une conversation ne se remplace pas par un tableau.</a:t>
            </a:r>
          </a:p>
        </p:txBody>
      </p:sp>
      <p:sp>
        <p:nvSpPr>
          <p:cNvPr id="21" name="TextBox 20"/>
          <p:cNvSpPr txBox="1"/>
          <p:nvPr/>
        </p:nvSpPr>
        <p:spPr>
          <a:xfrm>
            <a:off x="792000" y="5796000"/>
            <a:ext cx="10609200" cy="360000"/>
          </a:xfrm>
          <a:prstGeom prst="rect">
            <a:avLst/>
          </a:prstGeom>
          <a:noFill/>
        </p:spPr>
        <p:txBody>
          <a:bodyPr wrap="square" lIns="0" rIns="0" tIns="0" bIns="0">
            <a:spAutoFit/>
          </a:bodyPr>
          <a:lstStyle/>
          <a:p>
            <a:pPr algn="l">
              <a:lnSpc>
                <a:spcPct val="125000"/>
              </a:lnSpc>
              <a:spcAft>
                <a:spcPts val="0"/>
              </a:spcAft>
            </a:pPr>
            <a:r>
              <a:rPr sz="1300" b="0" i="1">
                <a:solidFill>
                  <a:srgbClr val="6A635B"/>
                </a:solidFill>
                <a:latin typeface="Calibri"/>
              </a:rPr>
              <a:t>Aucune de ces trois conditions ne modifie le prix public, le format, ni le certificat.</a:t>
            </a:r>
          </a:p>
        </p:txBody>
      </p:sp>
      <p:sp>
        <p:nvSpPr>
          <p:cNvPr id="22" name="TextBox 21"/>
          <p:cNvSpPr txBox="1"/>
          <p:nvPr/>
        </p:nvSpPr>
        <p:spPr>
          <a:xfrm>
            <a:off x="792000" y="6372000"/>
            <a:ext cx="9889200" cy="216000"/>
          </a:xfrm>
          <a:prstGeom prst="rect">
            <a:avLst/>
          </a:prstGeom>
          <a:noFill/>
        </p:spPr>
        <p:txBody>
          <a:bodyPr wrap="square" lIns="0" rIns="0" tIns="0" bIns="0">
            <a:spAutoFit/>
          </a:bodyPr>
          <a:lstStyle/>
          <a:p>
            <a:pPr algn="l">
              <a:lnSpc>
                <a:spcPct val="125000"/>
              </a:lnSpc>
              <a:spcAft>
                <a:spcPts val="0"/>
              </a:spcAft>
            </a:pPr>
            <a:r>
              <a:rPr sz="800" b="0" i="0">
                <a:solidFill>
                  <a:srgbClr val="6A635B"/>
                </a:solidFill>
                <a:latin typeface="Calibri"/>
              </a:rPr>
              <a:t>Mr Attractor  ·  proposition d’approche  ·  Sprint IA Tourisme et Loisirs</a:t>
            </a:r>
          </a:p>
        </p:txBody>
      </p:sp>
      <p:sp>
        <p:nvSpPr>
          <p:cNvPr id="23" name="TextBox 22"/>
          <p:cNvSpPr txBox="1"/>
          <p:nvPr/>
        </p:nvSpPr>
        <p:spPr>
          <a:xfrm>
            <a:off x="10681200" y="6372000"/>
            <a:ext cx="720000" cy="216000"/>
          </a:xfrm>
          <a:prstGeom prst="rect">
            <a:avLst/>
          </a:prstGeom>
          <a:noFill/>
        </p:spPr>
        <p:txBody>
          <a:bodyPr wrap="square" lIns="0" rIns="0" tIns="0" bIns="0">
            <a:spAutoFit/>
          </a:bodyPr>
          <a:lstStyle/>
          <a:p>
            <a:pPr algn="r">
              <a:lnSpc>
                <a:spcPct val="125000"/>
              </a:lnSpc>
              <a:spcAft>
                <a:spcPts val="0"/>
              </a:spcAft>
            </a:pPr>
            <a:r>
              <a:rPr sz="800" b="0" i="0">
                <a:solidFill>
                  <a:srgbClr val="6A635B"/>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1A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92000" y="792000"/>
            <a:ext cx="10609200" cy="288000"/>
          </a:xfrm>
          <a:prstGeom prst="rect">
            <a:avLst/>
          </a:prstGeom>
          <a:noFill/>
        </p:spPr>
        <p:txBody>
          <a:bodyPr wrap="square" lIns="0" rIns="0" tIns="0" bIns="0">
            <a:spAutoFit/>
          </a:bodyPr>
          <a:lstStyle/>
          <a:p>
            <a:pPr algn="l">
              <a:lnSpc>
                <a:spcPct val="125000"/>
              </a:lnSpc>
              <a:spcAft>
                <a:spcPts val="0"/>
              </a:spcAft>
            </a:pPr>
            <a:r>
              <a:rPr sz="1100" b="1" i="0">
                <a:solidFill>
                  <a:srgbClr val="FF7A2E"/>
                </a:solidFill>
                <a:latin typeface="Calibri"/>
              </a:rPr>
              <a:t>LA SUITE</a:t>
            </a:r>
          </a:p>
        </p:txBody>
      </p:sp>
      <p:sp>
        <p:nvSpPr>
          <p:cNvPr id="4" name="Rectangle 3"/>
          <p:cNvSpPr/>
          <p:nvPr/>
        </p:nvSpPr>
        <p:spPr>
          <a:xfrm>
            <a:off x="792000" y="1098000"/>
            <a:ext cx="1224000" cy="36000"/>
          </a:xfrm>
          <a:prstGeom prst="rect">
            <a:avLst/>
          </a:prstGeom>
          <a:solidFill>
            <a:srgbClr val="F25C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2000" y="1548000"/>
            <a:ext cx="9000000" cy="864000"/>
          </a:xfrm>
          <a:prstGeom prst="rect">
            <a:avLst/>
          </a:prstGeom>
          <a:noFill/>
        </p:spPr>
        <p:txBody>
          <a:bodyPr wrap="square" lIns="0" rIns="0" tIns="0" bIns="0">
            <a:spAutoFit/>
          </a:bodyPr>
          <a:lstStyle/>
          <a:p>
            <a:pPr algn="l">
              <a:lnSpc>
                <a:spcPct val="110000"/>
              </a:lnSpc>
              <a:spcAft>
                <a:spcPts val="0"/>
              </a:spcAft>
            </a:pPr>
            <a:r>
              <a:rPr sz="3400" b="1" i="0">
                <a:solidFill>
                  <a:srgbClr val="FFFFFF"/>
                </a:solidFill>
                <a:latin typeface="Calibri"/>
              </a:rPr>
              <a:t>Trois choses, dans cet ordre</a:t>
            </a:r>
          </a:p>
        </p:txBody>
      </p:sp>
      <p:sp>
        <p:nvSpPr>
          <p:cNvPr id="6" name="Oval 5"/>
          <p:cNvSpPr/>
          <p:nvPr/>
        </p:nvSpPr>
        <p:spPr>
          <a:xfrm>
            <a:off x="792000" y="2808000"/>
            <a:ext cx="468000" cy="468000"/>
          </a:xfrm>
          <a:prstGeom prst="ellipse">
            <a:avLst/>
          </a:prstGeom>
          <a:solidFill>
            <a:srgbClr val="F25C0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FFFFFF"/>
                </a:solidFill>
                <a:latin typeface="Calibri"/>
              </a:rPr>
              <a:t>1</a:t>
            </a:r>
          </a:p>
        </p:txBody>
      </p:sp>
      <p:sp>
        <p:nvSpPr>
          <p:cNvPr id="7" name="TextBox 6"/>
          <p:cNvSpPr txBox="1"/>
          <p:nvPr/>
        </p:nvSpPr>
        <p:spPr>
          <a:xfrm>
            <a:off x="1512000" y="2826000"/>
            <a:ext cx="9360000" cy="324000"/>
          </a:xfrm>
          <a:prstGeom prst="rect">
            <a:avLst/>
          </a:prstGeom>
          <a:noFill/>
        </p:spPr>
        <p:txBody>
          <a:bodyPr wrap="square" lIns="0" rIns="0" tIns="0" bIns="0">
            <a:spAutoFit/>
          </a:bodyPr>
          <a:lstStyle/>
          <a:p>
            <a:pPr algn="l">
              <a:lnSpc>
                <a:spcPct val="125000"/>
              </a:lnSpc>
              <a:spcAft>
                <a:spcPts val="0"/>
              </a:spcAft>
            </a:pPr>
            <a:r>
              <a:rPr sz="1800" b="1" i="0">
                <a:solidFill>
                  <a:srgbClr val="FFFFFF"/>
                </a:solidFill>
                <a:latin typeface="Calibri"/>
              </a:rPr>
              <a:t>Votre lecture du plan joint</a:t>
            </a:r>
          </a:p>
        </p:txBody>
      </p:sp>
      <p:sp>
        <p:nvSpPr>
          <p:cNvPr id="8" name="TextBox 7"/>
          <p:cNvSpPr txBox="1"/>
          <p:nvPr/>
        </p:nvSpPr>
        <p:spPr>
          <a:xfrm>
            <a:off x="1512000" y="3168000"/>
            <a:ext cx="9360000" cy="432000"/>
          </a:xfrm>
          <a:prstGeom prst="rect">
            <a:avLst/>
          </a:prstGeom>
          <a:noFill/>
        </p:spPr>
        <p:txBody>
          <a:bodyPr wrap="square" lIns="0" rIns="0" tIns="0" bIns="0">
            <a:spAutoFit/>
          </a:bodyPr>
          <a:lstStyle/>
          <a:p>
            <a:pPr algn="l">
              <a:lnSpc>
                <a:spcPct val="140000"/>
              </a:lnSpc>
              <a:spcAft>
                <a:spcPts val="0"/>
              </a:spcAft>
            </a:pPr>
            <a:r>
              <a:rPr sz="1300" b="0" i="0">
                <a:solidFill>
                  <a:srgbClr val="E7E1D8"/>
                </a:solidFill>
                <a:latin typeface="Calibri"/>
              </a:rPr>
              <a:t>Et votre réponse sur les deux points de gabarit, page 9.</a:t>
            </a:r>
          </a:p>
        </p:txBody>
      </p:sp>
      <p:sp>
        <p:nvSpPr>
          <p:cNvPr id="9" name="Oval 8"/>
          <p:cNvSpPr/>
          <p:nvPr/>
        </p:nvSpPr>
        <p:spPr>
          <a:xfrm>
            <a:off x="792000" y="3708000"/>
            <a:ext cx="468000" cy="468000"/>
          </a:xfrm>
          <a:prstGeom prst="ellipse">
            <a:avLst/>
          </a:prstGeom>
          <a:solidFill>
            <a:srgbClr val="F25C0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FFFFFF"/>
                </a:solidFill>
                <a:latin typeface="Calibri"/>
              </a:rPr>
              <a:t>2</a:t>
            </a:r>
          </a:p>
        </p:txBody>
      </p:sp>
      <p:sp>
        <p:nvSpPr>
          <p:cNvPr id="10" name="TextBox 9"/>
          <p:cNvSpPr txBox="1"/>
          <p:nvPr/>
        </p:nvSpPr>
        <p:spPr>
          <a:xfrm>
            <a:off x="1512000" y="3726000"/>
            <a:ext cx="9360000" cy="324000"/>
          </a:xfrm>
          <a:prstGeom prst="rect">
            <a:avLst/>
          </a:prstGeom>
          <a:noFill/>
        </p:spPr>
        <p:txBody>
          <a:bodyPr wrap="square" lIns="0" rIns="0" tIns="0" bIns="0">
            <a:spAutoFit/>
          </a:bodyPr>
          <a:lstStyle/>
          <a:p>
            <a:pPr algn="l">
              <a:lnSpc>
                <a:spcPct val="125000"/>
              </a:lnSpc>
              <a:spcAft>
                <a:spcPts val="0"/>
              </a:spcAft>
            </a:pPr>
            <a:r>
              <a:rPr sz="1800" b="1" i="0">
                <a:solidFill>
                  <a:srgbClr val="FFFFFF"/>
                </a:solidFill>
                <a:latin typeface="Calibri"/>
              </a:rPr>
              <a:t>Le calage de la session</a:t>
            </a:r>
          </a:p>
        </p:txBody>
      </p:sp>
      <p:sp>
        <p:nvSpPr>
          <p:cNvPr id="11" name="TextBox 10"/>
          <p:cNvSpPr txBox="1"/>
          <p:nvPr/>
        </p:nvSpPr>
        <p:spPr>
          <a:xfrm>
            <a:off x="1512000" y="4068000"/>
            <a:ext cx="9360000" cy="432000"/>
          </a:xfrm>
          <a:prstGeom prst="rect">
            <a:avLst/>
          </a:prstGeom>
          <a:noFill/>
        </p:spPr>
        <p:txBody>
          <a:bodyPr wrap="square" lIns="0" rIns="0" tIns="0" bIns="0">
            <a:spAutoFit/>
          </a:bodyPr>
          <a:lstStyle/>
          <a:p>
            <a:pPr algn="l">
              <a:lnSpc>
                <a:spcPct val="140000"/>
              </a:lnSpc>
              <a:spcAft>
                <a:spcPts val="0"/>
              </a:spcAft>
            </a:pPr>
            <a:r>
              <a:rPr sz="1300" b="0" i="0">
                <a:solidFill>
                  <a:srgbClr val="E7E1D8"/>
                </a:solidFill>
                <a:latin typeface="Calibri"/>
              </a:rPr>
              <a:t>Période visée, plancher de participants, date d’envoi des liens de relevé.</a:t>
            </a:r>
          </a:p>
        </p:txBody>
      </p:sp>
      <p:sp>
        <p:nvSpPr>
          <p:cNvPr id="12" name="Oval 11"/>
          <p:cNvSpPr/>
          <p:nvPr/>
        </p:nvSpPr>
        <p:spPr>
          <a:xfrm>
            <a:off x="792000" y="4608000"/>
            <a:ext cx="468000" cy="468000"/>
          </a:xfrm>
          <a:prstGeom prst="ellipse">
            <a:avLst/>
          </a:prstGeom>
          <a:solidFill>
            <a:srgbClr val="F25C0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FFFFFF"/>
                </a:solidFill>
                <a:latin typeface="Calibri"/>
              </a:rPr>
              <a:t>3</a:t>
            </a:r>
          </a:p>
        </p:txBody>
      </p:sp>
      <p:sp>
        <p:nvSpPr>
          <p:cNvPr id="13" name="TextBox 12"/>
          <p:cNvSpPr txBox="1"/>
          <p:nvPr/>
        </p:nvSpPr>
        <p:spPr>
          <a:xfrm>
            <a:off x="1512000" y="4626000"/>
            <a:ext cx="9360000" cy="324000"/>
          </a:xfrm>
          <a:prstGeom prst="rect">
            <a:avLst/>
          </a:prstGeom>
          <a:noFill/>
        </p:spPr>
        <p:txBody>
          <a:bodyPr wrap="square" lIns="0" rIns="0" tIns="0" bIns="0">
            <a:spAutoFit/>
          </a:bodyPr>
          <a:lstStyle/>
          <a:p>
            <a:pPr algn="l">
              <a:lnSpc>
                <a:spcPct val="125000"/>
              </a:lnSpc>
              <a:spcAft>
                <a:spcPts val="0"/>
              </a:spcAft>
            </a:pPr>
            <a:r>
              <a:rPr sz="1800" b="1" i="0">
                <a:solidFill>
                  <a:srgbClr val="FFFFFF"/>
                </a:solidFill>
                <a:latin typeface="Calibri"/>
              </a:rPr>
              <a:t>La réunion sur le partenariat</a:t>
            </a:r>
          </a:p>
        </p:txBody>
      </p:sp>
      <p:sp>
        <p:nvSpPr>
          <p:cNvPr id="14" name="TextBox 13"/>
          <p:cNvSpPr txBox="1"/>
          <p:nvPr/>
        </p:nvSpPr>
        <p:spPr>
          <a:xfrm>
            <a:off x="1512000" y="4968000"/>
            <a:ext cx="9360000" cy="432000"/>
          </a:xfrm>
          <a:prstGeom prst="rect">
            <a:avLst/>
          </a:prstGeom>
          <a:noFill/>
        </p:spPr>
        <p:txBody>
          <a:bodyPr wrap="square" lIns="0" rIns="0" tIns="0" bIns="0">
            <a:spAutoFit/>
          </a:bodyPr>
          <a:lstStyle/>
          <a:p>
            <a:pPr algn="l">
              <a:lnSpc>
                <a:spcPct val="140000"/>
              </a:lnSpc>
              <a:spcAft>
                <a:spcPts val="0"/>
              </a:spcAft>
            </a:pPr>
            <a:r>
              <a:rPr sz="1300" b="0" i="0">
                <a:solidFill>
                  <a:srgbClr val="E7E1D8"/>
                </a:solidFill>
                <a:latin typeface="Calibri"/>
              </a:rPr>
              <a:t>Niveau et base du partage, seuil de déclenchement, propriété des outils, suites commerciales. De vive voix.</a:t>
            </a:r>
          </a:p>
        </p:txBody>
      </p:sp>
      <p:sp>
        <p:nvSpPr>
          <p:cNvPr id="15" name="Rectangle 14"/>
          <p:cNvSpPr/>
          <p:nvPr/>
        </p:nvSpPr>
        <p:spPr>
          <a:xfrm>
            <a:off x="792000" y="5544000"/>
            <a:ext cx="10609200" cy="10800"/>
          </a:xfrm>
          <a:prstGeom prst="rect">
            <a:avLst/>
          </a:prstGeom>
          <a:solidFill>
            <a:srgbClr val="3A3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2000" y="5688000"/>
            <a:ext cx="8640000" cy="543153"/>
          </a:xfrm>
          <a:prstGeom prst="rect">
            <a:avLst/>
          </a:prstGeom>
          <a:noFill/>
        </p:spPr>
        <p:txBody>
          <a:bodyPr wrap="square" lIns="0" rIns="0" tIns="0" bIns="0">
            <a:spAutoFit/>
          </a:bodyPr>
          <a:lstStyle/>
          <a:p>
            <a:pPr algn="l">
              <a:lnSpc>
                <a:spcPct val="150000"/>
              </a:lnSpc>
              <a:spcAft>
                <a:spcPts val="0"/>
              </a:spcAft>
            </a:pPr>
            <a:r>
              <a:rPr sz="1100" b="0" i="0">
                <a:solidFill>
                  <a:srgbClr val="6A635B"/>
                </a:solidFill>
                <a:latin typeface="Calibri"/>
              </a:rPr>
              <a:t>Mac Arthur N’Guessan Kouassi  ·  agence Mr Attractor</a:t>
            </a:r>
          </a:p>
          <a:p>
            <a:pPr algn="l">
              <a:lnSpc>
                <a:spcPct val="150000"/>
              </a:lnSpc>
              <a:spcAft>
                <a:spcPts val="0"/>
              </a:spcAft>
            </a:pPr>
            <a:r>
              <a:rPr sz="1100" b="0" i="0">
                <a:solidFill>
                  <a:srgbClr val="6A635B"/>
                </a:solidFill>
                <a:latin typeface="Calibri"/>
              </a:rPr>
              <a:t>Le plan de formation au format de votre gabarit accompagne ce document.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